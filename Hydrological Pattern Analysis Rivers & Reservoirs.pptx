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Klein Heavy" charset="1" panose="02000503060000020004"/>
      <p:regular r:id="rId45"/>
    </p:embeddedFont>
    <p:embeddedFont>
      <p:font typeface="Klein" charset="1" panose="02000503060000020004"/>
      <p:regular r:id="rId46"/>
    </p:embeddedFont>
    <p:embeddedFont>
      <p:font typeface="Klein Bold" charset="1" panose="02000503060000020004"/>
      <p:regular r:id="rId47"/>
    </p:embeddedFont>
    <p:embeddedFont>
      <p:font typeface="Canva Sans Bold" charset="1" panose="020B0803030501040103"/>
      <p:regular r:id="rId48"/>
    </p:embeddedFont>
    <p:embeddedFont>
      <p:font typeface="Canva Sans" charset="1" panose="020B0503030501040103"/>
      <p:regular r:id="rId49"/>
    </p:embeddedFont>
    <p:embeddedFont>
      <p:font typeface="Arimo Bold" charset="1" panose="020B0704020202020204"/>
      <p:regular r:id="rId50"/>
    </p:embeddedFont>
    <p:embeddedFont>
      <p:font typeface="Klein Italics" charset="1" panose="02000503060000020004"/>
      <p:regular r:id="rId51"/>
    </p:embeddedFont>
    <p:embeddedFont>
      <p:font typeface="Roca Two" charset="1" panose="00000500000000000000"/>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notesMasters/notesMaster1.xml" Type="http://schemas.openxmlformats.org/officeDocument/2006/relationships/notesMaster"/><Relationship Id="rId43" Target="theme/theme2.xml" Type="http://schemas.openxmlformats.org/officeDocument/2006/relationships/theme"/><Relationship Id="rId44" Target="notesSlides/notesSlide1.xml" Type="http://schemas.openxmlformats.org/officeDocument/2006/relationships/note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17" Target="../media/image15.png" Type="http://schemas.openxmlformats.org/officeDocument/2006/relationships/image"/><Relationship Id="rId18" Target="../media/image16.svg" Type="http://schemas.openxmlformats.org/officeDocument/2006/relationships/image"/><Relationship Id="rId19" Target="../media/image17.png" Type="http://schemas.openxmlformats.org/officeDocument/2006/relationships/image"/><Relationship Id="rId2" Target="../notesSlides/notesSlide1.xml" Type="http://schemas.openxmlformats.org/officeDocument/2006/relationships/notesSlide"/><Relationship Id="rId20" Target="../media/image18.svg" Type="http://schemas.openxmlformats.org/officeDocument/2006/relationships/image"/><Relationship Id="rId21" Target="../media/image19.png" Type="http://schemas.openxmlformats.org/officeDocument/2006/relationships/image"/><Relationship Id="rId22" Target="../media/image20.svg" Type="http://schemas.openxmlformats.org/officeDocument/2006/relationships/image"/><Relationship Id="rId23" Target="../media/image21.png" Type="http://schemas.openxmlformats.org/officeDocument/2006/relationships/image"/><Relationship Id="rId24" Target="../media/image22.svg" Type="http://schemas.openxmlformats.org/officeDocument/2006/relationships/image"/><Relationship Id="rId25" Target="../media/image23.png" Type="http://schemas.openxmlformats.org/officeDocument/2006/relationships/image"/><Relationship Id="rId26" Target="../media/image24.sv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embeddings/oleObject2.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 Id="rId5" Target="../media/image5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grpSp>
        <p:nvGrpSpPr>
          <p:cNvPr name="Group 2" id="2"/>
          <p:cNvGrpSpPr/>
          <p:nvPr/>
        </p:nvGrpSpPr>
        <p:grpSpPr>
          <a:xfrm rot="0">
            <a:off x="-894184" y="549275"/>
            <a:ext cx="20076368" cy="9188450"/>
            <a:chOff x="0" y="0"/>
            <a:chExt cx="26768491" cy="12251267"/>
          </a:xfrm>
        </p:grpSpPr>
        <p:sp>
          <p:nvSpPr>
            <p:cNvPr name="Freeform 3" id="3"/>
            <p:cNvSpPr/>
            <p:nvPr/>
          </p:nvSpPr>
          <p:spPr>
            <a:xfrm flipH="false" flipV="false" rot="0">
              <a:off x="0" y="3323167"/>
              <a:ext cx="2555488" cy="2286000"/>
            </a:xfrm>
            <a:custGeom>
              <a:avLst/>
              <a:gdLst/>
              <a:ahLst/>
              <a:cxnLst/>
              <a:rect r="r" b="b" t="t" l="l"/>
              <a:pathLst>
                <a:path h="2286000" w="2555488">
                  <a:moveTo>
                    <a:pt x="0" y="0"/>
                  </a:moveTo>
                  <a:lnTo>
                    <a:pt x="2555488" y="0"/>
                  </a:lnTo>
                  <a:lnTo>
                    <a:pt x="2555488" y="2286000"/>
                  </a:lnTo>
                  <a:lnTo>
                    <a:pt x="0" y="2286000"/>
                  </a:lnTo>
                  <a:lnTo>
                    <a:pt x="0" y="0"/>
                  </a:lnTo>
                  <a:close/>
                </a:path>
              </a:pathLst>
            </a:custGeom>
            <a:blipFill>
              <a:blip r:embed="rId3">
                <a:alphaModFix amt="40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9712038" y="3323167"/>
              <a:ext cx="2689412" cy="2286000"/>
            </a:xfrm>
            <a:custGeom>
              <a:avLst/>
              <a:gdLst/>
              <a:ahLst/>
              <a:cxnLst/>
              <a:rect r="r" b="b" t="t" l="l"/>
              <a:pathLst>
                <a:path h="2286000" w="2689412">
                  <a:moveTo>
                    <a:pt x="0" y="0"/>
                  </a:moveTo>
                  <a:lnTo>
                    <a:pt x="2689412" y="0"/>
                  </a:lnTo>
                  <a:lnTo>
                    <a:pt x="2689412" y="2286000"/>
                  </a:lnTo>
                  <a:lnTo>
                    <a:pt x="0" y="2286000"/>
                  </a:lnTo>
                  <a:lnTo>
                    <a:pt x="0" y="0"/>
                  </a:lnTo>
                  <a:close/>
                </a:path>
              </a:pathLst>
            </a:custGeom>
            <a:blipFill>
              <a:blip r:embed="rId5">
                <a:alphaModFix amt="40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741934" y="3323167"/>
              <a:ext cx="2408621" cy="2286000"/>
            </a:xfrm>
            <a:custGeom>
              <a:avLst/>
              <a:gdLst/>
              <a:ahLst/>
              <a:cxnLst/>
              <a:rect r="r" b="b" t="t" l="l"/>
              <a:pathLst>
                <a:path h="2286000" w="2408621">
                  <a:moveTo>
                    <a:pt x="0" y="0"/>
                  </a:moveTo>
                  <a:lnTo>
                    <a:pt x="2408620" y="0"/>
                  </a:lnTo>
                  <a:lnTo>
                    <a:pt x="2408620" y="2286000"/>
                  </a:lnTo>
                  <a:lnTo>
                    <a:pt x="0" y="2286000"/>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5018500" y="3323167"/>
              <a:ext cx="2297487" cy="2286000"/>
            </a:xfrm>
            <a:custGeom>
              <a:avLst/>
              <a:gdLst/>
              <a:ahLst/>
              <a:cxnLst/>
              <a:rect r="r" b="b" t="t" l="l"/>
              <a:pathLst>
                <a:path h="2286000" w="2297487">
                  <a:moveTo>
                    <a:pt x="2297488" y="0"/>
                  </a:moveTo>
                  <a:lnTo>
                    <a:pt x="0" y="0"/>
                  </a:lnTo>
                  <a:lnTo>
                    <a:pt x="0" y="2286000"/>
                  </a:lnTo>
                  <a:lnTo>
                    <a:pt x="2297488" y="2286000"/>
                  </a:lnTo>
                  <a:lnTo>
                    <a:pt x="2297488" y="0"/>
                  </a:lnTo>
                  <a:close/>
                </a:path>
              </a:pathLst>
            </a:custGeom>
            <a:blipFill>
              <a:blip r:embed="rId9">
                <a:alphaModFix amt="40000"/>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24858642" y="3323167"/>
              <a:ext cx="1733204" cy="2286000"/>
            </a:xfrm>
            <a:custGeom>
              <a:avLst/>
              <a:gdLst/>
              <a:ahLst/>
              <a:cxnLst/>
              <a:rect r="r" b="b" t="t" l="l"/>
              <a:pathLst>
                <a:path h="2286000" w="1733204">
                  <a:moveTo>
                    <a:pt x="0" y="0"/>
                  </a:moveTo>
                  <a:lnTo>
                    <a:pt x="1733204" y="0"/>
                  </a:lnTo>
                  <a:lnTo>
                    <a:pt x="1733204" y="2286000"/>
                  </a:lnTo>
                  <a:lnTo>
                    <a:pt x="0" y="2286000"/>
                  </a:lnTo>
                  <a:lnTo>
                    <a:pt x="0" y="0"/>
                  </a:lnTo>
                  <a:close/>
                </a:path>
              </a:pathLst>
            </a:custGeom>
            <a:blipFill>
              <a:blip r:embed="rId11">
                <a:alphaModFix amt="40000"/>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22271796" y="0"/>
              <a:ext cx="2017395" cy="2286000"/>
            </a:xfrm>
            <a:custGeom>
              <a:avLst/>
              <a:gdLst/>
              <a:ahLst/>
              <a:cxnLst/>
              <a:rect r="r" b="b" t="t" l="l"/>
              <a:pathLst>
                <a:path h="2286000" w="2017395">
                  <a:moveTo>
                    <a:pt x="0" y="0"/>
                  </a:moveTo>
                  <a:lnTo>
                    <a:pt x="2017395" y="0"/>
                  </a:lnTo>
                  <a:lnTo>
                    <a:pt x="2017395" y="2286000"/>
                  </a:lnTo>
                  <a:lnTo>
                    <a:pt x="0" y="2286000"/>
                  </a:lnTo>
                  <a:lnTo>
                    <a:pt x="0" y="0"/>
                  </a:lnTo>
                  <a:close/>
                </a:path>
              </a:pathLst>
            </a:custGeom>
            <a:blipFill>
              <a:blip r:embed="rId13">
                <a:alphaModFix amt="40000"/>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7247994" y="0"/>
              <a:ext cx="2286000" cy="2286000"/>
            </a:xfrm>
            <a:custGeom>
              <a:avLst/>
              <a:gdLst/>
              <a:ahLst/>
              <a:cxnLst/>
              <a:rect r="r" b="b" t="t" l="l"/>
              <a:pathLst>
                <a:path h="2286000" w="2286000">
                  <a:moveTo>
                    <a:pt x="0" y="0"/>
                  </a:moveTo>
                  <a:lnTo>
                    <a:pt x="2286000" y="0"/>
                  </a:lnTo>
                  <a:lnTo>
                    <a:pt x="2286000" y="2286000"/>
                  </a:lnTo>
                  <a:lnTo>
                    <a:pt x="0" y="2286000"/>
                  </a:lnTo>
                  <a:lnTo>
                    <a:pt x="0" y="0"/>
                  </a:lnTo>
                  <a:close/>
                </a:path>
              </a:pathLst>
            </a:custGeom>
            <a:blipFill>
              <a:blip r:embed="rId15">
                <a:alphaModFix amt="40000"/>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0">
              <a:off x="12458247" y="0"/>
              <a:ext cx="2086495" cy="2286000"/>
            </a:xfrm>
            <a:custGeom>
              <a:avLst/>
              <a:gdLst/>
              <a:ahLst/>
              <a:cxnLst/>
              <a:rect r="r" b="b" t="t" l="l"/>
              <a:pathLst>
                <a:path h="2286000" w="2086495">
                  <a:moveTo>
                    <a:pt x="0" y="0"/>
                  </a:moveTo>
                  <a:lnTo>
                    <a:pt x="2086494" y="0"/>
                  </a:lnTo>
                  <a:lnTo>
                    <a:pt x="2086494" y="2286000"/>
                  </a:lnTo>
                  <a:lnTo>
                    <a:pt x="0" y="2286000"/>
                  </a:lnTo>
                  <a:lnTo>
                    <a:pt x="0" y="0"/>
                  </a:lnTo>
                  <a:close/>
                </a:path>
              </a:pathLst>
            </a:custGeom>
            <a:blipFill>
              <a:blip r:embed="rId17">
                <a:alphaModFix amt="40000"/>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7856185" y="0"/>
              <a:ext cx="1511617" cy="2286000"/>
            </a:xfrm>
            <a:custGeom>
              <a:avLst/>
              <a:gdLst/>
              <a:ahLst/>
              <a:cxnLst/>
              <a:rect r="r" b="b" t="t" l="l"/>
              <a:pathLst>
                <a:path h="2286000" w="1511617">
                  <a:moveTo>
                    <a:pt x="0" y="0"/>
                  </a:moveTo>
                  <a:lnTo>
                    <a:pt x="1511618" y="0"/>
                  </a:lnTo>
                  <a:lnTo>
                    <a:pt x="1511618" y="2286000"/>
                  </a:lnTo>
                  <a:lnTo>
                    <a:pt x="0" y="2286000"/>
                  </a:lnTo>
                  <a:lnTo>
                    <a:pt x="0" y="0"/>
                  </a:lnTo>
                  <a:close/>
                </a:path>
              </a:pathLst>
            </a:custGeom>
            <a:blipFill>
              <a:blip r:embed="rId19">
                <a:alphaModFix amt="40000"/>
                <a:extLst>
                  <a:ext uri="{96DAC541-7B7A-43D3-8B79-37D633B846F1}">
                    <asvg:svgBlip xmlns:asvg="http://schemas.microsoft.com/office/drawing/2016/SVG/main" r:embed="rId20"/>
                  </a:ext>
                </a:extLst>
              </a:blip>
              <a:stretch>
                <a:fillRect l="0" t="0" r="0" b="0"/>
              </a:stretch>
            </a:blipFill>
          </p:spPr>
        </p:sp>
        <p:sp>
          <p:nvSpPr>
            <p:cNvPr name="Freeform 12" id="12"/>
            <p:cNvSpPr/>
            <p:nvPr/>
          </p:nvSpPr>
          <p:spPr>
            <a:xfrm flipH="false" flipV="false" rot="0">
              <a:off x="2579494" y="0"/>
              <a:ext cx="2286000" cy="2286000"/>
            </a:xfrm>
            <a:custGeom>
              <a:avLst/>
              <a:gdLst/>
              <a:ahLst/>
              <a:cxnLst/>
              <a:rect r="r" b="b" t="t" l="l"/>
              <a:pathLst>
                <a:path h="2286000" w="2286000">
                  <a:moveTo>
                    <a:pt x="0" y="0"/>
                  </a:moveTo>
                  <a:lnTo>
                    <a:pt x="2286000" y="0"/>
                  </a:lnTo>
                  <a:lnTo>
                    <a:pt x="2286000" y="2286000"/>
                  </a:lnTo>
                  <a:lnTo>
                    <a:pt x="0" y="2286000"/>
                  </a:lnTo>
                  <a:lnTo>
                    <a:pt x="0" y="0"/>
                  </a:lnTo>
                  <a:close/>
                </a:path>
              </a:pathLst>
            </a:custGeom>
            <a:blipFill>
              <a:blip r:embed="rId21">
                <a:alphaModFix amt="40000"/>
                <a:extLst>
                  <a:ext uri="{96DAC541-7B7A-43D3-8B79-37D633B846F1}">
                    <asvg:svgBlip xmlns:asvg="http://schemas.microsoft.com/office/drawing/2016/SVG/main" r:embed="rId22"/>
                  </a:ext>
                </a:extLst>
              </a:blip>
              <a:stretch>
                <a:fillRect l="0" t="0" r="0" b="0"/>
              </a:stretch>
            </a:blipFill>
          </p:spPr>
        </p:sp>
        <p:sp>
          <p:nvSpPr>
            <p:cNvPr name="Freeform 13" id="13"/>
            <p:cNvSpPr/>
            <p:nvPr/>
          </p:nvSpPr>
          <p:spPr>
            <a:xfrm flipH="false" flipV="false" rot="0">
              <a:off x="7603296" y="6637867"/>
              <a:ext cx="2017395" cy="2286000"/>
            </a:xfrm>
            <a:custGeom>
              <a:avLst/>
              <a:gdLst/>
              <a:ahLst/>
              <a:cxnLst/>
              <a:rect r="r" b="b" t="t" l="l"/>
              <a:pathLst>
                <a:path h="2286000" w="2017395">
                  <a:moveTo>
                    <a:pt x="0" y="0"/>
                  </a:moveTo>
                  <a:lnTo>
                    <a:pt x="2017395" y="0"/>
                  </a:lnTo>
                  <a:lnTo>
                    <a:pt x="2017395" y="2286000"/>
                  </a:lnTo>
                  <a:lnTo>
                    <a:pt x="0" y="2286000"/>
                  </a:lnTo>
                  <a:lnTo>
                    <a:pt x="0" y="0"/>
                  </a:lnTo>
                  <a:close/>
                </a:path>
              </a:pathLst>
            </a:custGeom>
            <a:blipFill>
              <a:blip r:embed="rId13">
                <a:alphaModFix amt="40000"/>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2579494" y="6637867"/>
              <a:ext cx="2286000" cy="2286000"/>
            </a:xfrm>
            <a:custGeom>
              <a:avLst/>
              <a:gdLst/>
              <a:ahLst/>
              <a:cxnLst/>
              <a:rect r="r" b="b" t="t" l="l"/>
              <a:pathLst>
                <a:path h="2286000" w="2286000">
                  <a:moveTo>
                    <a:pt x="0" y="0"/>
                  </a:moveTo>
                  <a:lnTo>
                    <a:pt x="2286000" y="0"/>
                  </a:lnTo>
                  <a:lnTo>
                    <a:pt x="2286000" y="2286000"/>
                  </a:lnTo>
                  <a:lnTo>
                    <a:pt x="0" y="2286000"/>
                  </a:lnTo>
                  <a:lnTo>
                    <a:pt x="0" y="0"/>
                  </a:lnTo>
                  <a:close/>
                </a:path>
              </a:pathLst>
            </a:custGeom>
            <a:blipFill>
              <a:blip r:embed="rId15">
                <a:alphaModFix amt="40000"/>
                <a:extLst>
                  <a:ext uri="{96DAC541-7B7A-43D3-8B79-37D633B846F1}">
                    <asvg:svgBlip xmlns:asvg="http://schemas.microsoft.com/office/drawing/2016/SVG/main" r:embed="rId16"/>
                  </a:ext>
                </a:extLst>
              </a:blip>
              <a:stretch>
                <a:fillRect l="0" t="0" r="0" b="0"/>
              </a:stretch>
            </a:blipFill>
          </p:spPr>
        </p:sp>
        <p:sp>
          <p:nvSpPr>
            <p:cNvPr name="Freeform 15" id="15"/>
            <p:cNvSpPr/>
            <p:nvPr/>
          </p:nvSpPr>
          <p:spPr>
            <a:xfrm flipH="false" flipV="false" rot="0">
              <a:off x="12223750" y="6637867"/>
              <a:ext cx="2555488" cy="2286000"/>
            </a:xfrm>
            <a:custGeom>
              <a:avLst/>
              <a:gdLst/>
              <a:ahLst/>
              <a:cxnLst/>
              <a:rect r="r" b="b" t="t" l="l"/>
              <a:pathLst>
                <a:path h="2286000" w="2555488">
                  <a:moveTo>
                    <a:pt x="0" y="0"/>
                  </a:moveTo>
                  <a:lnTo>
                    <a:pt x="2555488" y="0"/>
                  </a:lnTo>
                  <a:lnTo>
                    <a:pt x="2555488" y="2286000"/>
                  </a:lnTo>
                  <a:lnTo>
                    <a:pt x="0" y="2286000"/>
                  </a:lnTo>
                  <a:lnTo>
                    <a:pt x="0" y="0"/>
                  </a:lnTo>
                  <a:close/>
                </a:path>
              </a:pathLst>
            </a:custGeom>
            <a:blipFill>
              <a:blip r:embed="rId3">
                <a:alphaModFix amt="40000"/>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21935788" y="6637867"/>
              <a:ext cx="2689412" cy="2286000"/>
            </a:xfrm>
            <a:custGeom>
              <a:avLst/>
              <a:gdLst/>
              <a:ahLst/>
              <a:cxnLst/>
              <a:rect r="r" b="b" t="t" l="l"/>
              <a:pathLst>
                <a:path h="2286000" w="2689412">
                  <a:moveTo>
                    <a:pt x="0" y="0"/>
                  </a:moveTo>
                  <a:lnTo>
                    <a:pt x="2689412" y="0"/>
                  </a:lnTo>
                  <a:lnTo>
                    <a:pt x="2689412" y="2286000"/>
                  </a:lnTo>
                  <a:lnTo>
                    <a:pt x="0" y="2286000"/>
                  </a:lnTo>
                  <a:lnTo>
                    <a:pt x="0" y="0"/>
                  </a:lnTo>
                  <a:close/>
                </a:path>
              </a:pathLst>
            </a:custGeom>
            <a:blipFill>
              <a:blip r:embed="rId5">
                <a:alphaModFix amt="40000"/>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true" flipV="false" rot="0">
              <a:off x="17242250" y="6637867"/>
              <a:ext cx="2297487" cy="2286000"/>
            </a:xfrm>
            <a:custGeom>
              <a:avLst/>
              <a:gdLst/>
              <a:ahLst/>
              <a:cxnLst/>
              <a:rect r="r" b="b" t="t" l="l"/>
              <a:pathLst>
                <a:path h="2286000" w="2297487">
                  <a:moveTo>
                    <a:pt x="2297488" y="0"/>
                  </a:moveTo>
                  <a:lnTo>
                    <a:pt x="0" y="0"/>
                  </a:lnTo>
                  <a:lnTo>
                    <a:pt x="0" y="2286000"/>
                  </a:lnTo>
                  <a:lnTo>
                    <a:pt x="2297488" y="2286000"/>
                  </a:lnTo>
                  <a:lnTo>
                    <a:pt x="2297488" y="0"/>
                  </a:lnTo>
                  <a:close/>
                </a:path>
              </a:pathLst>
            </a:custGeom>
            <a:blipFill>
              <a:blip r:embed="rId9">
                <a:alphaModFix amt="40000"/>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5212839" y="9965267"/>
              <a:ext cx="1908810" cy="2286000"/>
            </a:xfrm>
            <a:custGeom>
              <a:avLst/>
              <a:gdLst/>
              <a:ahLst/>
              <a:cxnLst/>
              <a:rect r="r" b="b" t="t" l="l"/>
              <a:pathLst>
                <a:path h="2286000" w="1908810">
                  <a:moveTo>
                    <a:pt x="0" y="0"/>
                  </a:moveTo>
                  <a:lnTo>
                    <a:pt x="1908810" y="0"/>
                  </a:lnTo>
                  <a:lnTo>
                    <a:pt x="1908810" y="2286000"/>
                  </a:lnTo>
                  <a:lnTo>
                    <a:pt x="0" y="2286000"/>
                  </a:lnTo>
                  <a:lnTo>
                    <a:pt x="0" y="0"/>
                  </a:lnTo>
                  <a:close/>
                </a:path>
              </a:pathLst>
            </a:custGeom>
            <a:blipFill>
              <a:blip r:embed="rId23">
                <a:alphaModFix amt="40000"/>
                <a:extLst>
                  <a:ext uri="{96DAC541-7B7A-43D3-8B79-37D633B846F1}">
                    <asvg:svgBlip xmlns:asvg="http://schemas.microsoft.com/office/drawing/2016/SVG/main" r:embed="rId24"/>
                  </a:ext>
                </a:extLst>
              </a:blip>
              <a:stretch>
                <a:fillRect l="0" t="0" r="0" b="0"/>
              </a:stretch>
            </a:blipFill>
          </p:spPr>
        </p:sp>
        <p:sp>
          <p:nvSpPr>
            <p:cNvPr name="Freeform 19" id="19"/>
            <p:cNvSpPr/>
            <p:nvPr/>
          </p:nvSpPr>
          <p:spPr>
            <a:xfrm flipH="false" flipV="false" rot="0">
              <a:off x="73434" y="9965267"/>
              <a:ext cx="2408621" cy="2286000"/>
            </a:xfrm>
            <a:custGeom>
              <a:avLst/>
              <a:gdLst/>
              <a:ahLst/>
              <a:cxnLst/>
              <a:rect r="r" b="b" t="t" l="l"/>
              <a:pathLst>
                <a:path h="2286000" w="2408621">
                  <a:moveTo>
                    <a:pt x="0" y="0"/>
                  </a:moveTo>
                  <a:lnTo>
                    <a:pt x="2408620" y="0"/>
                  </a:lnTo>
                  <a:lnTo>
                    <a:pt x="2408620" y="2286000"/>
                  </a:lnTo>
                  <a:lnTo>
                    <a:pt x="0" y="2286000"/>
                  </a:lnTo>
                  <a:lnTo>
                    <a:pt x="0" y="0"/>
                  </a:lnTo>
                  <a:close/>
                </a:path>
              </a:pathLst>
            </a:custGeom>
            <a:blipFill>
              <a:blip r:embed="rId7">
                <a:alphaModFix amt="40000"/>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10190142" y="9965267"/>
              <a:ext cx="1733204" cy="2286000"/>
            </a:xfrm>
            <a:custGeom>
              <a:avLst/>
              <a:gdLst/>
              <a:ahLst/>
              <a:cxnLst/>
              <a:rect r="r" b="b" t="t" l="l"/>
              <a:pathLst>
                <a:path h="2286000" w="1733204">
                  <a:moveTo>
                    <a:pt x="0" y="0"/>
                  </a:moveTo>
                  <a:lnTo>
                    <a:pt x="1733204" y="0"/>
                  </a:lnTo>
                  <a:lnTo>
                    <a:pt x="1733204" y="2286000"/>
                  </a:lnTo>
                  <a:lnTo>
                    <a:pt x="0" y="2286000"/>
                  </a:lnTo>
                  <a:lnTo>
                    <a:pt x="0" y="0"/>
                  </a:lnTo>
                  <a:close/>
                </a:path>
              </a:pathLst>
            </a:custGeom>
            <a:blipFill>
              <a:blip r:embed="rId11">
                <a:alphaModFix amt="40000"/>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24681997" y="9965267"/>
              <a:ext cx="2086495" cy="2286000"/>
            </a:xfrm>
            <a:custGeom>
              <a:avLst/>
              <a:gdLst/>
              <a:ahLst/>
              <a:cxnLst/>
              <a:rect r="r" b="b" t="t" l="l"/>
              <a:pathLst>
                <a:path h="2286000" w="2086495">
                  <a:moveTo>
                    <a:pt x="0" y="0"/>
                  </a:moveTo>
                  <a:lnTo>
                    <a:pt x="2086494" y="0"/>
                  </a:lnTo>
                  <a:lnTo>
                    <a:pt x="2086494" y="2286000"/>
                  </a:lnTo>
                  <a:lnTo>
                    <a:pt x="0" y="2286000"/>
                  </a:lnTo>
                  <a:lnTo>
                    <a:pt x="0" y="0"/>
                  </a:lnTo>
                  <a:close/>
                </a:path>
              </a:pathLst>
            </a:custGeom>
            <a:blipFill>
              <a:blip r:embed="rId17">
                <a:alphaModFix amt="40000"/>
                <a:extLst>
                  <a:ext uri="{96DAC541-7B7A-43D3-8B79-37D633B846F1}">
                    <asvg:svgBlip xmlns:asvg="http://schemas.microsoft.com/office/drawing/2016/SVG/main" r:embed="rId18"/>
                  </a:ext>
                </a:extLst>
              </a:blip>
              <a:stretch>
                <a:fillRect l="0" t="0" r="0" b="0"/>
              </a:stretch>
            </a:blipFill>
          </p:spPr>
        </p:sp>
        <p:sp>
          <p:nvSpPr>
            <p:cNvPr name="Freeform 22" id="22"/>
            <p:cNvSpPr/>
            <p:nvPr/>
          </p:nvSpPr>
          <p:spPr>
            <a:xfrm flipH="false" flipV="false" rot="0">
              <a:off x="20079935" y="9965267"/>
              <a:ext cx="1511618" cy="2286000"/>
            </a:xfrm>
            <a:custGeom>
              <a:avLst/>
              <a:gdLst/>
              <a:ahLst/>
              <a:cxnLst/>
              <a:rect r="r" b="b" t="t" l="l"/>
              <a:pathLst>
                <a:path h="2286000" w="1511618">
                  <a:moveTo>
                    <a:pt x="0" y="0"/>
                  </a:moveTo>
                  <a:lnTo>
                    <a:pt x="1511618" y="0"/>
                  </a:lnTo>
                  <a:lnTo>
                    <a:pt x="1511618" y="2286000"/>
                  </a:lnTo>
                  <a:lnTo>
                    <a:pt x="0" y="2286000"/>
                  </a:lnTo>
                  <a:lnTo>
                    <a:pt x="0" y="0"/>
                  </a:lnTo>
                  <a:close/>
                </a:path>
              </a:pathLst>
            </a:custGeom>
            <a:blipFill>
              <a:blip r:embed="rId19">
                <a:alphaModFix amt="40000"/>
                <a:extLst>
                  <a:ext uri="{96DAC541-7B7A-43D3-8B79-37D633B846F1}">
                    <asvg:svgBlip xmlns:asvg="http://schemas.microsoft.com/office/drawing/2016/SVG/main" r:embed="rId20"/>
                  </a:ext>
                </a:extLst>
              </a:blip>
              <a:stretch>
                <a:fillRect l="0" t="0" r="0" b="0"/>
              </a:stretch>
            </a:blipFill>
          </p:spPr>
        </p:sp>
        <p:sp>
          <p:nvSpPr>
            <p:cNvPr name="Freeform 23" id="23"/>
            <p:cNvSpPr/>
            <p:nvPr/>
          </p:nvSpPr>
          <p:spPr>
            <a:xfrm flipH="false" flipV="false" rot="0">
              <a:off x="14803244" y="9965267"/>
              <a:ext cx="2286000" cy="2286000"/>
            </a:xfrm>
            <a:custGeom>
              <a:avLst/>
              <a:gdLst/>
              <a:ahLst/>
              <a:cxnLst/>
              <a:rect r="r" b="b" t="t" l="l"/>
              <a:pathLst>
                <a:path h="2286000" w="2286000">
                  <a:moveTo>
                    <a:pt x="0" y="0"/>
                  </a:moveTo>
                  <a:lnTo>
                    <a:pt x="2286000" y="0"/>
                  </a:lnTo>
                  <a:lnTo>
                    <a:pt x="2286000" y="2286000"/>
                  </a:lnTo>
                  <a:lnTo>
                    <a:pt x="0" y="2286000"/>
                  </a:lnTo>
                  <a:lnTo>
                    <a:pt x="0" y="0"/>
                  </a:lnTo>
                  <a:close/>
                </a:path>
              </a:pathLst>
            </a:custGeom>
            <a:blipFill>
              <a:blip r:embed="rId21">
                <a:alphaModFix amt="40000"/>
                <a:extLst>
                  <a:ext uri="{96DAC541-7B7A-43D3-8B79-37D633B846F1}">
                    <asvg:svgBlip xmlns:asvg="http://schemas.microsoft.com/office/drawing/2016/SVG/main" r:embed="rId22"/>
                  </a:ext>
                </a:extLst>
              </a:blip>
              <a:stretch>
                <a:fillRect l="0" t="0" r="0" b="0"/>
              </a:stretch>
            </a:blipFill>
          </p:spPr>
        </p:sp>
      </p:grpSp>
      <p:sp>
        <p:nvSpPr>
          <p:cNvPr name="TextBox 24" id="24"/>
          <p:cNvSpPr txBox="true"/>
          <p:nvPr/>
        </p:nvSpPr>
        <p:spPr>
          <a:xfrm rot="0">
            <a:off x="671739" y="1637533"/>
            <a:ext cx="9389164" cy="5067300"/>
          </a:xfrm>
          <a:prstGeom prst="rect">
            <a:avLst/>
          </a:prstGeom>
        </p:spPr>
        <p:txBody>
          <a:bodyPr anchor="t" rtlCol="false" tIns="0" lIns="0" bIns="0" rIns="0">
            <a:spAutoFit/>
          </a:bodyPr>
          <a:lstStyle/>
          <a:p>
            <a:pPr algn="l">
              <a:lnSpc>
                <a:spcPts val="9900"/>
              </a:lnSpc>
            </a:pPr>
            <a:r>
              <a:rPr lang="en-US" sz="9000" b="true">
                <a:solidFill>
                  <a:srgbClr val="000001"/>
                </a:solidFill>
                <a:latin typeface="Klein Heavy"/>
                <a:ea typeface="Klein Heavy"/>
                <a:cs typeface="Klein Heavy"/>
                <a:sym typeface="Klein Heavy"/>
              </a:rPr>
              <a:t>Hydrological Pattern Analysis: Rivers &amp; Reservoirs</a:t>
            </a:r>
          </a:p>
        </p:txBody>
      </p:sp>
      <p:sp>
        <p:nvSpPr>
          <p:cNvPr name="Freeform 25" id="25"/>
          <p:cNvSpPr/>
          <p:nvPr/>
        </p:nvSpPr>
        <p:spPr>
          <a:xfrm flipH="false" flipV="false" rot="0">
            <a:off x="11806322" y="-105986"/>
            <a:ext cx="6481678" cy="10498972"/>
          </a:xfrm>
          <a:custGeom>
            <a:avLst/>
            <a:gdLst/>
            <a:ahLst/>
            <a:cxnLst/>
            <a:rect r="r" b="b" t="t" l="l"/>
            <a:pathLst>
              <a:path h="10498972" w="6481678">
                <a:moveTo>
                  <a:pt x="0" y="0"/>
                </a:moveTo>
                <a:lnTo>
                  <a:pt x="6481678" y="0"/>
                </a:lnTo>
                <a:lnTo>
                  <a:pt x="6481678" y="10498972"/>
                </a:lnTo>
                <a:lnTo>
                  <a:pt x="0" y="10498972"/>
                </a:lnTo>
                <a:lnTo>
                  <a:pt x="0" y="0"/>
                </a:lnTo>
                <a:close/>
              </a:path>
            </a:pathLst>
          </a:custGeom>
          <a:blipFill>
            <a:blip r:embed="rId25">
              <a:extLst>
                <a:ext uri="{96DAC541-7B7A-43D3-8B79-37D633B846F1}">
                  <asvg:svgBlip xmlns:asvg="http://schemas.microsoft.com/office/drawing/2016/SVG/main" r:embed="rId26"/>
                </a:ext>
              </a:extLst>
            </a:blip>
            <a:stretch>
              <a:fillRect l="0" t="0" r="-27541" b="-18974"/>
            </a:stretch>
          </a:blipFill>
          <a:ln cap="sq">
            <a:noFill/>
            <a:prstDash val="solid"/>
            <a:miter/>
          </a:ln>
        </p:spPr>
      </p:sp>
      <p:sp>
        <p:nvSpPr>
          <p:cNvPr name="TextBox 26" id="26"/>
          <p:cNvSpPr txBox="true"/>
          <p:nvPr/>
        </p:nvSpPr>
        <p:spPr>
          <a:xfrm rot="0">
            <a:off x="5364377" y="6733408"/>
            <a:ext cx="5791438" cy="730250"/>
          </a:xfrm>
          <a:prstGeom prst="rect">
            <a:avLst/>
          </a:prstGeom>
        </p:spPr>
        <p:txBody>
          <a:bodyPr anchor="t" rtlCol="false" tIns="0" lIns="0" bIns="0" rIns="0">
            <a:spAutoFit/>
          </a:bodyPr>
          <a:lstStyle/>
          <a:p>
            <a:pPr algn="ctr">
              <a:lnSpc>
                <a:spcPts val="5500"/>
              </a:lnSpc>
              <a:spcBef>
                <a:spcPct val="0"/>
              </a:spcBef>
            </a:pPr>
            <a:r>
              <a:rPr lang="en-US" b="true" sz="5000">
                <a:solidFill>
                  <a:srgbClr val="000001"/>
                </a:solidFill>
                <a:latin typeface="Klein Heavy"/>
                <a:ea typeface="Klein Heavy"/>
                <a:cs typeface="Klein Heavy"/>
                <a:sym typeface="Klein Heavy"/>
              </a:rPr>
              <a:t>Low Battery Gang</a:t>
            </a:r>
          </a:p>
        </p:txBody>
      </p:sp>
      <p:sp>
        <p:nvSpPr>
          <p:cNvPr name="TextBox 27" id="27"/>
          <p:cNvSpPr txBox="true"/>
          <p:nvPr/>
        </p:nvSpPr>
        <p:spPr>
          <a:xfrm rot="0">
            <a:off x="1319139" y="7501758"/>
            <a:ext cx="6136042" cy="2222500"/>
          </a:xfrm>
          <a:prstGeom prst="rect">
            <a:avLst/>
          </a:prstGeom>
        </p:spPr>
        <p:txBody>
          <a:bodyPr anchor="t" rtlCol="false" tIns="0" lIns="0" bIns="0" rIns="0">
            <a:spAutoFit/>
          </a:bodyPr>
          <a:lstStyle/>
          <a:p>
            <a:pPr algn="l">
              <a:lnSpc>
                <a:spcPts val="4399"/>
              </a:lnSpc>
            </a:pPr>
            <a:r>
              <a:rPr lang="en-US" sz="3999" b="true">
                <a:solidFill>
                  <a:srgbClr val="000001"/>
                </a:solidFill>
                <a:latin typeface="Klein Heavy"/>
                <a:ea typeface="Klein Heavy"/>
                <a:cs typeface="Klein Heavy"/>
                <a:sym typeface="Klein Heavy"/>
              </a:rPr>
              <a:t>Team members</a:t>
            </a:r>
          </a:p>
          <a:p>
            <a:pPr algn="l">
              <a:lnSpc>
                <a:spcPts val="4399"/>
              </a:lnSpc>
            </a:pPr>
            <a:r>
              <a:rPr lang="en-US" sz="3999">
                <a:solidFill>
                  <a:srgbClr val="000001"/>
                </a:solidFill>
                <a:latin typeface="Klein"/>
                <a:ea typeface="Klein"/>
                <a:cs typeface="Klein"/>
                <a:sym typeface="Klein"/>
              </a:rPr>
              <a:t>Rohan (2022101072)</a:t>
            </a:r>
          </a:p>
          <a:p>
            <a:pPr algn="l">
              <a:lnSpc>
                <a:spcPts val="4399"/>
              </a:lnSpc>
            </a:pPr>
            <a:r>
              <a:rPr lang="en-US" sz="3999">
                <a:solidFill>
                  <a:srgbClr val="000001"/>
                </a:solidFill>
                <a:latin typeface="Klein"/>
                <a:ea typeface="Klein"/>
                <a:cs typeface="Klein"/>
                <a:sym typeface="Klein"/>
              </a:rPr>
              <a:t>Aman (2023111018)</a:t>
            </a:r>
          </a:p>
          <a:p>
            <a:pPr algn="l">
              <a:lnSpc>
                <a:spcPts val="4399"/>
              </a:lnSpc>
              <a:spcBef>
                <a:spcPct val="0"/>
              </a:spcBef>
            </a:pPr>
            <a:r>
              <a:rPr lang="en-US" sz="3999">
                <a:solidFill>
                  <a:srgbClr val="000001"/>
                </a:solidFill>
                <a:latin typeface="Klein"/>
                <a:ea typeface="Klein"/>
                <a:cs typeface="Klein"/>
                <a:sym typeface="Klein"/>
              </a:rPr>
              <a:t>Bharath (2022101044)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sp>
        <p:nvSpPr>
          <p:cNvPr name="Freeform 2" id="2"/>
          <p:cNvSpPr/>
          <p:nvPr/>
        </p:nvSpPr>
        <p:spPr>
          <a:xfrm flipH="false" flipV="false" rot="0">
            <a:off x="10171130" y="0"/>
            <a:ext cx="10429903" cy="10477500"/>
          </a:xfrm>
          <a:custGeom>
            <a:avLst/>
            <a:gdLst/>
            <a:ahLst/>
            <a:cxnLst/>
            <a:rect r="r" b="b" t="t" l="l"/>
            <a:pathLst>
              <a:path h="10477500" w="10429903">
                <a:moveTo>
                  <a:pt x="0" y="0"/>
                </a:moveTo>
                <a:lnTo>
                  <a:pt x="10429904" y="0"/>
                </a:lnTo>
                <a:lnTo>
                  <a:pt x="10429904" y="10477500"/>
                </a:lnTo>
                <a:lnTo>
                  <a:pt x="0" y="10477500"/>
                </a:lnTo>
                <a:lnTo>
                  <a:pt x="0" y="0"/>
                </a:lnTo>
                <a:close/>
              </a:path>
            </a:pathLst>
          </a:custGeom>
          <a:blipFill>
            <a:blip r:embed="rId2">
              <a:extLst>
                <a:ext uri="{96DAC541-7B7A-43D3-8B79-37D633B846F1}">
                  <asvg:svgBlip xmlns:asvg="http://schemas.microsoft.com/office/drawing/2016/SVG/main" r:embed="rId3"/>
                </a:ext>
              </a:extLst>
            </a:blip>
            <a:stretch>
              <a:fillRect l="-2867" t="0" r="0" b="0"/>
            </a:stretch>
          </a:blipFill>
          <a:ln cap="sq">
            <a:noFill/>
            <a:prstDash val="solid"/>
            <a:miter/>
          </a:ln>
        </p:spPr>
      </p:sp>
      <p:sp>
        <p:nvSpPr>
          <p:cNvPr name="TextBox 3" id="3"/>
          <p:cNvSpPr txBox="true"/>
          <p:nvPr/>
        </p:nvSpPr>
        <p:spPr>
          <a:xfrm rot="0">
            <a:off x="278199" y="366776"/>
            <a:ext cx="8865801" cy="876300"/>
          </a:xfrm>
          <a:prstGeom prst="rect">
            <a:avLst/>
          </a:prstGeom>
        </p:spPr>
        <p:txBody>
          <a:bodyPr anchor="t" rtlCol="false" tIns="0" lIns="0" bIns="0" rIns="0">
            <a:spAutoFit/>
          </a:bodyPr>
          <a:lstStyle/>
          <a:p>
            <a:pPr algn="l" marL="0" indent="0" lvl="0">
              <a:lnSpc>
                <a:spcPts val="6600"/>
              </a:lnSpc>
              <a:spcBef>
                <a:spcPct val="0"/>
              </a:spcBef>
            </a:pPr>
            <a:r>
              <a:rPr lang="en-US" b="true" sz="6000">
                <a:solidFill>
                  <a:srgbClr val="000001"/>
                </a:solidFill>
                <a:latin typeface="Klein Heavy"/>
                <a:ea typeface="Klein Heavy"/>
                <a:cs typeface="Klein Heavy"/>
                <a:sym typeface="Klein Heavy"/>
              </a:rPr>
              <a:t>Problem Statement</a:t>
            </a:r>
          </a:p>
        </p:txBody>
      </p:sp>
      <p:sp>
        <p:nvSpPr>
          <p:cNvPr name="TextBox 4" id="4"/>
          <p:cNvSpPr txBox="true"/>
          <p:nvPr/>
        </p:nvSpPr>
        <p:spPr>
          <a:xfrm rot="0">
            <a:off x="0" y="2016010"/>
            <a:ext cx="9719314" cy="693420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000001"/>
                </a:solidFill>
                <a:latin typeface="Klein"/>
                <a:ea typeface="Klein"/>
                <a:cs typeface="Klein"/>
                <a:sym typeface="Klein"/>
              </a:rPr>
              <a:t>River systems and reserv</a:t>
            </a:r>
            <a:r>
              <a:rPr lang="en-US" sz="3000">
                <a:solidFill>
                  <a:srgbClr val="000001"/>
                </a:solidFill>
                <a:latin typeface="Klein"/>
                <a:ea typeface="Klein"/>
                <a:cs typeface="Klein"/>
                <a:sym typeface="Klein"/>
              </a:rPr>
              <a:t>oirs are under </a:t>
            </a:r>
            <a:r>
              <a:rPr lang="en-US" b="true" sz="3000">
                <a:solidFill>
                  <a:srgbClr val="000001"/>
                </a:solidFill>
                <a:latin typeface="Klein Bold"/>
                <a:ea typeface="Klein Bold"/>
                <a:cs typeface="Klein Bold"/>
                <a:sym typeface="Klein Bold"/>
              </a:rPr>
              <a:t>increasing pressure</a:t>
            </a:r>
            <a:r>
              <a:rPr lang="en-US" sz="3000">
                <a:solidFill>
                  <a:srgbClr val="000001"/>
                </a:solidFill>
                <a:latin typeface="Klein"/>
                <a:ea typeface="Klein"/>
                <a:cs typeface="Klein"/>
                <a:sym typeface="Klein"/>
              </a:rPr>
              <a:t> from both climate variability and direct human activities. However, there is a </a:t>
            </a:r>
            <a:r>
              <a:rPr lang="en-US" b="true" sz="3000">
                <a:solidFill>
                  <a:srgbClr val="000001"/>
                </a:solidFill>
                <a:latin typeface="Klein Bold"/>
                <a:ea typeface="Klein Bold"/>
                <a:cs typeface="Klein Bold"/>
                <a:sym typeface="Klein Bold"/>
              </a:rPr>
              <a:t>critical lack of a long-term, integrated understanding</a:t>
            </a:r>
            <a:r>
              <a:rPr lang="en-US" sz="3000">
                <a:solidFill>
                  <a:srgbClr val="000001"/>
                </a:solidFill>
                <a:latin typeface="Klein"/>
                <a:ea typeface="Klein"/>
                <a:cs typeface="Klein"/>
                <a:sym typeface="Klein"/>
              </a:rPr>
              <a:t> of how these drivers translate into physical changes on the ground. </a:t>
            </a:r>
          </a:p>
          <a:p>
            <a:pPr algn="just" marL="647700" indent="-323850" lvl="1">
              <a:lnSpc>
                <a:spcPts val="4200"/>
              </a:lnSpc>
              <a:buFont typeface="Arial"/>
              <a:buChar char="•"/>
            </a:pPr>
            <a:r>
              <a:rPr lang="en-US" sz="3000">
                <a:solidFill>
                  <a:srgbClr val="000001"/>
                </a:solidFill>
                <a:latin typeface="Klein"/>
                <a:ea typeface="Klein"/>
                <a:cs typeface="Klein"/>
                <a:sym typeface="Klein"/>
              </a:rPr>
              <a:t>This </a:t>
            </a:r>
            <a:r>
              <a:rPr lang="en-US" b="true" sz="3000">
                <a:solidFill>
                  <a:srgbClr val="000001"/>
                </a:solidFill>
                <a:latin typeface="Klein Bold"/>
                <a:ea typeface="Klein Bold"/>
                <a:cs typeface="Klein Bold"/>
                <a:sym typeface="Klein Bold"/>
              </a:rPr>
              <a:t>project will address this gap by using data</a:t>
            </a:r>
            <a:r>
              <a:rPr lang="en-US" sz="3000">
                <a:solidFill>
                  <a:srgbClr val="000001"/>
                </a:solidFill>
                <a:latin typeface="Klein"/>
                <a:ea typeface="Klein"/>
                <a:cs typeface="Klein"/>
                <a:sym typeface="Klein"/>
              </a:rPr>
              <a:t> archive to quantify the dynamics of river channels and reservoir areas, explicitly </a:t>
            </a:r>
            <a:r>
              <a:rPr lang="en-US" b="true" sz="3000">
                <a:solidFill>
                  <a:srgbClr val="000001"/>
                </a:solidFill>
                <a:latin typeface="Klein Bold"/>
                <a:ea typeface="Klein Bold"/>
                <a:cs typeface="Klein Bold"/>
                <a:sym typeface="Klein Bold"/>
              </a:rPr>
              <a:t>linking observed changes to climatic trends and anthropogenic pressures</a:t>
            </a:r>
            <a:r>
              <a:rPr lang="en-US" sz="3000">
                <a:solidFill>
                  <a:srgbClr val="000001"/>
                </a:solidFill>
                <a:latin typeface="Klein"/>
                <a:ea typeface="Klein"/>
                <a:cs typeface="Klein"/>
                <a:sym typeface="Klein"/>
              </a:rPr>
              <a:t> like dam construction and land use change</a:t>
            </a:r>
            <a:r>
              <a:rPr lang="en-US" b="true" sz="3000">
                <a:solidFill>
                  <a:srgbClr val="000001"/>
                </a:solidFill>
                <a:latin typeface="Klein Bold"/>
                <a:ea typeface="Klein Bold"/>
                <a:cs typeface="Klein Bold"/>
                <a:sym typeface="Klein Bold"/>
              </a:rPr>
              <a:t>.</a:t>
            </a:r>
          </a:p>
          <a:p>
            <a:pPr algn="just">
              <a:lnSpc>
                <a:spcPts val="42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grpSp>
        <p:nvGrpSpPr>
          <p:cNvPr name="Group 2" id="2"/>
          <p:cNvGrpSpPr/>
          <p:nvPr/>
        </p:nvGrpSpPr>
        <p:grpSpPr>
          <a:xfrm rot="0">
            <a:off x="6277629" y="-142875"/>
            <a:ext cx="12172296" cy="10572750"/>
            <a:chOff x="0" y="0"/>
            <a:chExt cx="3205872" cy="2784593"/>
          </a:xfrm>
        </p:grpSpPr>
        <p:sp>
          <p:nvSpPr>
            <p:cNvPr name="Freeform 3" id="3"/>
            <p:cNvSpPr/>
            <p:nvPr/>
          </p:nvSpPr>
          <p:spPr>
            <a:xfrm flipH="false" flipV="false" rot="0">
              <a:off x="0" y="0"/>
              <a:ext cx="3205872" cy="2784593"/>
            </a:xfrm>
            <a:custGeom>
              <a:avLst/>
              <a:gdLst/>
              <a:ahLst/>
              <a:cxnLst/>
              <a:rect r="r" b="b" t="t" l="l"/>
              <a:pathLst>
                <a:path h="2784593" w="3205872">
                  <a:moveTo>
                    <a:pt x="0" y="0"/>
                  </a:moveTo>
                  <a:lnTo>
                    <a:pt x="3205872" y="0"/>
                  </a:lnTo>
                  <a:lnTo>
                    <a:pt x="3205872" y="2784593"/>
                  </a:lnTo>
                  <a:lnTo>
                    <a:pt x="0" y="2784593"/>
                  </a:lnTo>
                  <a:close/>
                </a:path>
              </a:pathLst>
            </a:custGeom>
            <a:solidFill>
              <a:srgbClr val="EFB59C"/>
            </a:solidFill>
            <a:ln cap="sq">
              <a:noFill/>
              <a:prstDash val="solid"/>
              <a:miter/>
            </a:ln>
          </p:spPr>
        </p:sp>
        <p:sp>
          <p:nvSpPr>
            <p:cNvPr name="TextBox 4" id="4"/>
            <p:cNvSpPr txBox="true"/>
            <p:nvPr/>
          </p:nvSpPr>
          <p:spPr>
            <a:xfrm>
              <a:off x="0" y="-47625"/>
              <a:ext cx="3205872" cy="283221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6783971" y="1905000"/>
            <a:ext cx="10475329" cy="5867400"/>
          </a:xfrm>
          <a:prstGeom prst="rect">
            <a:avLst/>
          </a:prstGeom>
        </p:spPr>
        <p:txBody>
          <a:bodyPr anchor="t" rtlCol="false" tIns="0" lIns="0" bIns="0" rIns="0">
            <a:spAutoFit/>
          </a:bodyPr>
          <a:lstStyle/>
          <a:p>
            <a:pPr algn="just">
              <a:lnSpc>
                <a:spcPts val="4200"/>
              </a:lnSpc>
              <a:spcBef>
                <a:spcPct val="0"/>
              </a:spcBef>
            </a:pPr>
            <a:r>
              <a:rPr lang="en-US" b="true" sz="3000">
                <a:solidFill>
                  <a:srgbClr val="000001"/>
                </a:solidFill>
                <a:latin typeface="Klein Bold"/>
                <a:ea typeface="Klein Bold"/>
                <a:cs typeface="Klein Bold"/>
                <a:sym typeface="Klein Bold"/>
              </a:rPr>
              <a:t>T</a:t>
            </a:r>
            <a:r>
              <a:rPr lang="en-US" b="true" sz="3000">
                <a:solidFill>
                  <a:srgbClr val="000001"/>
                </a:solidFill>
                <a:latin typeface="Klein Bold"/>
                <a:ea typeface="Klein Bold"/>
                <a:cs typeface="Klein Bold"/>
                <a:sym typeface="Klein Bold"/>
              </a:rPr>
              <a:t>he analysis  focuses on one major river</a:t>
            </a:r>
            <a:r>
              <a:rPr lang="en-US" sz="3000">
                <a:solidFill>
                  <a:srgbClr val="000001"/>
                </a:solidFill>
                <a:latin typeface="Klein"/>
                <a:ea typeface="Klein"/>
                <a:cs typeface="Klein"/>
                <a:sym typeface="Klein"/>
              </a:rPr>
              <a:t> (such as the Krishna River) in the nagarjuna sagara dam </a:t>
            </a:r>
            <a:r>
              <a:rPr lang="en-US" b="true" sz="3000">
                <a:solidFill>
                  <a:srgbClr val="000001"/>
                </a:solidFill>
                <a:latin typeface="Klein Bold"/>
                <a:ea typeface="Klein Bold"/>
                <a:cs typeface="Klein Bold"/>
                <a:sym typeface="Klein Bold"/>
              </a:rPr>
              <a:t>and a few key reservoirs within the basin</a:t>
            </a:r>
            <a:r>
              <a:rPr lang="en-US" sz="3000">
                <a:solidFill>
                  <a:srgbClr val="000001"/>
                </a:solidFill>
                <a:latin typeface="Klein"/>
                <a:ea typeface="Klein"/>
                <a:cs typeface="Klein"/>
                <a:sym typeface="Klein"/>
              </a:rPr>
              <a:t> to ensure detailed and manageable evaluation. </a:t>
            </a:r>
            <a:r>
              <a:rPr lang="en-US" b="true" sz="3000">
                <a:solidFill>
                  <a:srgbClr val="000001"/>
                </a:solidFill>
                <a:latin typeface="Klein Bold"/>
                <a:ea typeface="Klein Bold"/>
                <a:cs typeface="Klein Bold"/>
                <a:sym typeface="Klein Bold"/>
              </a:rPr>
              <a:t>Seasonal changes between the monsoon and dry periods will be compared to understand fluctuations and hydrolic shifts</a:t>
            </a:r>
            <a:r>
              <a:rPr lang="en-US" sz="3000">
                <a:solidFill>
                  <a:srgbClr val="000001"/>
                </a:solidFill>
                <a:latin typeface="Klein"/>
                <a:ea typeface="Klein"/>
                <a:cs typeface="Klein"/>
                <a:sym typeface="Klein"/>
              </a:rPr>
              <a:t>. The study also examines surrounding land-use changes, such as urban expansion and agricultural encroachment, and relates these spatial patterns to climatic factors like rainfall and anthropogenic influences such as dam construction</a:t>
            </a:r>
          </a:p>
        </p:txBody>
      </p:sp>
      <p:sp>
        <p:nvSpPr>
          <p:cNvPr name="Freeform 6" id="6"/>
          <p:cNvSpPr/>
          <p:nvPr/>
        </p:nvSpPr>
        <p:spPr>
          <a:xfrm flipH="false" flipV="false" rot="0">
            <a:off x="260657" y="2855233"/>
            <a:ext cx="5790185" cy="5790185"/>
          </a:xfrm>
          <a:custGeom>
            <a:avLst/>
            <a:gdLst/>
            <a:ahLst/>
            <a:cxnLst/>
            <a:rect r="r" b="b" t="t" l="l"/>
            <a:pathLst>
              <a:path h="5790185" w="5790185">
                <a:moveTo>
                  <a:pt x="0" y="0"/>
                </a:moveTo>
                <a:lnTo>
                  <a:pt x="5790185" y="0"/>
                </a:lnTo>
                <a:lnTo>
                  <a:pt x="5790185" y="5790185"/>
                </a:lnTo>
                <a:lnTo>
                  <a:pt x="0" y="5790185"/>
                </a:lnTo>
                <a:lnTo>
                  <a:pt x="0" y="0"/>
                </a:lnTo>
                <a:close/>
              </a:path>
            </a:pathLst>
          </a:custGeom>
          <a:blipFill>
            <a:blip r:embed="rId2"/>
            <a:stretch>
              <a:fillRect l="-18597" t="-10213" r="-9759" b="0"/>
            </a:stretch>
          </a:blipFill>
        </p:spPr>
      </p:sp>
      <p:sp>
        <p:nvSpPr>
          <p:cNvPr name="TextBox 7" id="7"/>
          <p:cNvSpPr txBox="true"/>
          <p:nvPr/>
        </p:nvSpPr>
        <p:spPr>
          <a:xfrm rot="0">
            <a:off x="592654" y="180975"/>
            <a:ext cx="5684975" cy="1425575"/>
          </a:xfrm>
          <a:prstGeom prst="rect">
            <a:avLst/>
          </a:prstGeom>
        </p:spPr>
        <p:txBody>
          <a:bodyPr anchor="t" rtlCol="false" tIns="0" lIns="0" bIns="0" rIns="0">
            <a:spAutoFit/>
          </a:bodyPr>
          <a:lstStyle/>
          <a:p>
            <a:pPr algn="l">
              <a:lnSpc>
                <a:spcPts val="5500"/>
              </a:lnSpc>
            </a:pPr>
            <a:r>
              <a:rPr lang="en-US" sz="5000" b="true">
                <a:solidFill>
                  <a:srgbClr val="000001"/>
                </a:solidFill>
                <a:latin typeface="Klein Heavy"/>
                <a:ea typeface="Klein Heavy"/>
                <a:cs typeface="Klein Heavy"/>
                <a:sym typeface="Klein Heavy"/>
              </a:rPr>
              <a:t>Scope of Project</a:t>
            </a:r>
          </a:p>
          <a:p>
            <a:pPr algn="l">
              <a:lnSpc>
                <a:spcPts val="5500"/>
              </a:lnSpc>
            </a:pPr>
            <a:r>
              <a:rPr lang="en-US" sz="5000" b="true">
                <a:solidFill>
                  <a:srgbClr val="000001"/>
                </a:solidFill>
                <a:latin typeface="Klein Heavy"/>
                <a:ea typeface="Klein Heavy"/>
                <a:cs typeface="Klein Heavy"/>
                <a:sym typeface="Klein Heavy"/>
              </a:rPr>
              <a:t>(AOI)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CF83"/>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2156779"/>
          <a:ext cx="16230600" cy="6422659"/>
        </p:xfrm>
        <a:graphic>
          <a:graphicData uri="http://schemas.openxmlformats.org/presentationml/2006/ole">
            <p:oleObj imgW="19469100" imgH="9664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6601369" y="487362"/>
            <a:ext cx="5085262" cy="1149350"/>
          </a:xfrm>
          <a:prstGeom prst="rect">
            <a:avLst/>
          </a:prstGeom>
        </p:spPr>
        <p:txBody>
          <a:bodyPr anchor="t" rtlCol="false" tIns="0" lIns="0" bIns="0" rIns="0">
            <a:spAutoFit/>
          </a:bodyPr>
          <a:lstStyle/>
          <a:p>
            <a:pPr algn="l">
              <a:lnSpc>
                <a:spcPts val="8800"/>
              </a:lnSpc>
            </a:pPr>
            <a:r>
              <a:rPr lang="en-US" sz="8000" b="true">
                <a:solidFill>
                  <a:srgbClr val="000001"/>
                </a:solidFill>
                <a:latin typeface="Klein Heavy"/>
                <a:ea typeface="Klein Heavy"/>
                <a:cs typeface="Klein Heavy"/>
                <a:sym typeface="Klein Heavy"/>
              </a:rPr>
              <a:t>Datasets</a:t>
            </a:r>
          </a:p>
        </p:txBody>
      </p:sp>
      <p:sp>
        <p:nvSpPr>
          <p:cNvPr name="TextBox 4" id="4"/>
          <p:cNvSpPr txBox="true"/>
          <p:nvPr/>
        </p:nvSpPr>
        <p:spPr>
          <a:xfrm rot="0">
            <a:off x="1028700" y="8420100"/>
            <a:ext cx="14389465" cy="1600200"/>
          </a:xfrm>
          <a:prstGeom prst="rect">
            <a:avLst/>
          </a:prstGeom>
        </p:spPr>
        <p:txBody>
          <a:bodyPr anchor="t" rtlCol="false" tIns="0" lIns="0" bIns="0" rIns="0">
            <a:spAutoFit/>
          </a:bodyPr>
          <a:lstStyle/>
          <a:p>
            <a:pPr algn="l">
              <a:lnSpc>
                <a:spcPts val="4200"/>
              </a:lnSpc>
              <a:spcBef>
                <a:spcPct val="0"/>
              </a:spcBef>
            </a:pPr>
            <a:r>
              <a:rPr lang="en-US" b="true" sz="3000">
                <a:solidFill>
                  <a:srgbClr val="000001"/>
                </a:solidFill>
                <a:latin typeface="Klein Bold"/>
                <a:ea typeface="Klein Bold"/>
                <a:cs typeface="Klein Bold"/>
                <a:sym typeface="Klein Bold"/>
              </a:rPr>
              <a:t>Assumption :</a:t>
            </a:r>
            <a:r>
              <a:rPr lang="en-US" sz="3000">
                <a:solidFill>
                  <a:srgbClr val="000001"/>
                </a:solidFill>
                <a:latin typeface="Klein"/>
                <a:ea typeface="Klein"/>
                <a:cs typeface="Klein"/>
                <a:sym typeface="Klein"/>
              </a:rPr>
              <a:t> Soil moisture acts as proxy for ground water, why use soil moisture ? ground water data (GRACE), is of low resolution ~300km, and the GLDAS is of ~25km resolution</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grpSp>
        <p:nvGrpSpPr>
          <p:cNvPr name="Group 2" id="2"/>
          <p:cNvGrpSpPr/>
          <p:nvPr/>
        </p:nvGrpSpPr>
        <p:grpSpPr>
          <a:xfrm rot="0">
            <a:off x="0" y="1626165"/>
            <a:ext cx="18288000" cy="8660835"/>
            <a:chOff x="0" y="0"/>
            <a:chExt cx="4816593" cy="2281043"/>
          </a:xfrm>
        </p:grpSpPr>
        <p:sp>
          <p:nvSpPr>
            <p:cNvPr name="Freeform 3" id="3"/>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4" id="4"/>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244675"/>
            <a:ext cx="9648891" cy="990600"/>
          </a:xfrm>
          <a:prstGeom prst="rect">
            <a:avLst/>
          </a:prstGeom>
        </p:spPr>
        <p:txBody>
          <a:bodyPr anchor="t" rtlCol="false" tIns="0" lIns="0" bIns="0" rIns="0">
            <a:spAutoFit/>
          </a:bodyPr>
          <a:lstStyle/>
          <a:p>
            <a:pPr algn="l">
              <a:lnSpc>
                <a:spcPts val="7800"/>
              </a:lnSpc>
              <a:spcBef>
                <a:spcPct val="0"/>
              </a:spcBef>
            </a:pPr>
            <a:r>
              <a:rPr lang="en-US" b="true" sz="6000" spc="120">
                <a:solidFill>
                  <a:srgbClr val="000000"/>
                </a:solidFill>
                <a:latin typeface="Klein Bold"/>
                <a:ea typeface="Klein Bold"/>
                <a:cs typeface="Klein Bold"/>
                <a:sym typeface="Klein Bold"/>
              </a:rPr>
              <a:t>O</a:t>
            </a:r>
            <a:r>
              <a:rPr lang="en-US" b="true" sz="6000" spc="120">
                <a:solidFill>
                  <a:srgbClr val="000000"/>
                </a:solidFill>
                <a:latin typeface="Klein Bold"/>
                <a:ea typeface="Klein Bold"/>
                <a:cs typeface="Klein Bold"/>
                <a:sym typeface="Klein Bold"/>
              </a:rPr>
              <a:t>utput &amp; Visualization</a:t>
            </a:r>
          </a:p>
        </p:txBody>
      </p:sp>
      <p:sp>
        <p:nvSpPr>
          <p:cNvPr name="TextBox 6" id="6"/>
          <p:cNvSpPr txBox="true"/>
          <p:nvPr/>
        </p:nvSpPr>
        <p:spPr>
          <a:xfrm rot="0">
            <a:off x="1028700" y="2727534"/>
            <a:ext cx="16230600" cy="5457825"/>
          </a:xfrm>
          <a:prstGeom prst="rect">
            <a:avLst/>
          </a:prstGeom>
        </p:spPr>
        <p:txBody>
          <a:bodyPr anchor="t" rtlCol="false" tIns="0" lIns="0" bIns="0" rIns="0">
            <a:spAutoFit/>
          </a:bodyPr>
          <a:lstStyle/>
          <a:p>
            <a:pPr algn="l" marL="647700" indent="-323850" lvl="1">
              <a:lnSpc>
                <a:spcPts val="3900"/>
              </a:lnSpc>
              <a:buFont typeface="Arial"/>
              <a:buChar char="•"/>
            </a:pPr>
            <a:r>
              <a:rPr lang="en-US" sz="3000" spc="60">
                <a:solidFill>
                  <a:srgbClr val="000000"/>
                </a:solidFill>
                <a:latin typeface="Klein"/>
                <a:ea typeface="Klein"/>
                <a:cs typeface="Klein"/>
                <a:sym typeface="Klein"/>
              </a:rPr>
              <a:t>Thematic Datasets: The collection of all final, analysis-ready outputs. This includes maps of river width, land cover change, and bank migration, as well as time-series data for reservoir area and driver attribution.</a:t>
            </a:r>
          </a:p>
          <a:p>
            <a:pPr algn="l" marL="647700" indent="-323850" lvl="1">
              <a:lnSpc>
                <a:spcPts val="3900"/>
              </a:lnSpc>
              <a:buFont typeface="Arial"/>
              <a:buChar char="•"/>
            </a:pPr>
            <a:r>
              <a:rPr lang="en-US" sz="3000" spc="60">
                <a:solidFill>
                  <a:srgbClr val="000000"/>
                </a:solidFill>
                <a:latin typeface="Klein"/>
                <a:ea typeface="Klein"/>
                <a:cs typeface="Klein"/>
                <a:sym typeface="Klein"/>
              </a:rPr>
              <a:t>Data Packaging: Data is delivered in GeoPackage format for desktop GIS software and as Google Earth Engine assets for further cloud-based analysis. The structure is designed to be easily queryable for specific information (e.g., "Reservoir area in year X").</a:t>
            </a:r>
          </a:p>
          <a:p>
            <a:pPr algn="l" marL="647700" indent="-323850" lvl="1">
              <a:lnSpc>
                <a:spcPts val="3900"/>
              </a:lnSpc>
              <a:buFont typeface="Arial"/>
              <a:buChar char="•"/>
            </a:pPr>
            <a:r>
              <a:rPr lang="en-US" sz="3000" spc="60">
                <a:solidFill>
                  <a:srgbClr val="000000"/>
                </a:solidFill>
                <a:latin typeface="Klein"/>
                <a:ea typeface="Klein"/>
                <a:cs typeface="Klein"/>
                <a:sym typeface="Klein"/>
              </a:rPr>
              <a:t>Visualization Platforms: Refers to the end-user tools, such as interactive web maps or dashboards, that will be used to display the final thematic datasets and analytical results to stakeholders.</a:t>
            </a:r>
          </a:p>
          <a:p>
            <a:pPr algn="l">
              <a:lnSpc>
                <a:spcPts val="39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11679569" y="200125"/>
            <a:ext cx="5579731" cy="9779928"/>
          </a:xfrm>
          <a:custGeom>
            <a:avLst/>
            <a:gdLst/>
            <a:ahLst/>
            <a:cxnLst/>
            <a:rect r="r" b="b" t="t" l="l"/>
            <a:pathLst>
              <a:path h="9779928" w="5579731">
                <a:moveTo>
                  <a:pt x="0" y="0"/>
                </a:moveTo>
                <a:lnTo>
                  <a:pt x="5579731" y="0"/>
                </a:lnTo>
                <a:lnTo>
                  <a:pt x="5579731" y="9779928"/>
                </a:lnTo>
                <a:lnTo>
                  <a:pt x="0" y="9779928"/>
                </a:lnTo>
                <a:lnTo>
                  <a:pt x="0" y="0"/>
                </a:lnTo>
                <a:close/>
              </a:path>
            </a:pathLst>
          </a:custGeom>
          <a:blipFill>
            <a:blip r:embed="rId2"/>
            <a:stretch>
              <a:fillRect l="-402" t="0" r="-381" b="0"/>
            </a:stretch>
          </a:blipFill>
        </p:spPr>
      </p:sp>
      <p:sp>
        <p:nvSpPr>
          <p:cNvPr name="TextBox 3" id="3"/>
          <p:cNvSpPr txBox="true"/>
          <p:nvPr/>
        </p:nvSpPr>
        <p:spPr>
          <a:xfrm rot="0">
            <a:off x="0" y="4243989"/>
            <a:ext cx="11928430" cy="1796976"/>
          </a:xfrm>
          <a:prstGeom prst="rect">
            <a:avLst/>
          </a:prstGeom>
        </p:spPr>
        <p:txBody>
          <a:bodyPr anchor="t" rtlCol="false" tIns="0" lIns="0" bIns="0" rIns="0">
            <a:spAutoFit/>
          </a:bodyPr>
          <a:lstStyle/>
          <a:p>
            <a:pPr algn="l" marL="0" indent="0" lvl="0">
              <a:lnSpc>
                <a:spcPts val="13743"/>
              </a:lnSpc>
              <a:spcBef>
                <a:spcPct val="0"/>
              </a:spcBef>
            </a:pPr>
            <a:r>
              <a:rPr lang="en-US" b="true" sz="12494">
                <a:solidFill>
                  <a:srgbClr val="000001"/>
                </a:solidFill>
                <a:latin typeface="Klein Bold"/>
                <a:ea typeface="Klein Bold"/>
                <a:cs typeface="Klein Bold"/>
                <a:sym typeface="Klein Bold"/>
              </a:rPr>
              <a:t>Methodology</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0" y="448868"/>
            <a:ext cx="6822281" cy="1028700"/>
          </a:xfrm>
          <a:prstGeom prst="rect">
            <a:avLst/>
          </a:prstGeom>
        </p:spPr>
        <p:txBody>
          <a:bodyPr anchor="t" rtlCol="false" tIns="0" lIns="0" bIns="0" rIns="0">
            <a:spAutoFit/>
          </a:bodyPr>
          <a:lstStyle/>
          <a:p>
            <a:pPr algn="l">
              <a:lnSpc>
                <a:spcPts val="8400"/>
              </a:lnSpc>
            </a:pPr>
            <a:r>
              <a:rPr lang="en-US" sz="6000" b="true">
                <a:solidFill>
                  <a:srgbClr val="000000"/>
                </a:solidFill>
                <a:latin typeface="Canva Sans Bold"/>
                <a:ea typeface="Canva Sans Bold"/>
                <a:cs typeface="Canva Sans Bold"/>
                <a:sym typeface="Canva Sans Bold"/>
              </a:rPr>
              <a:t>Choice of Satellite</a:t>
            </a:r>
          </a:p>
        </p:txBody>
      </p:sp>
      <p:grpSp>
        <p:nvGrpSpPr>
          <p:cNvPr name="Group 3" id="3"/>
          <p:cNvGrpSpPr/>
          <p:nvPr/>
        </p:nvGrpSpPr>
        <p:grpSpPr>
          <a:xfrm rot="0">
            <a:off x="0" y="1626165"/>
            <a:ext cx="18288000" cy="8660835"/>
            <a:chOff x="0" y="0"/>
            <a:chExt cx="4816593" cy="2281043"/>
          </a:xfrm>
        </p:grpSpPr>
        <p:sp>
          <p:nvSpPr>
            <p:cNvPr name="Freeform 4" id="4"/>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5" id="5"/>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0" y="3054143"/>
            <a:ext cx="18288000" cy="5953125"/>
          </a:xfrm>
          <a:prstGeom prst="rect">
            <a:avLst/>
          </a:prstGeom>
        </p:spPr>
        <p:txBody>
          <a:bodyPr anchor="t" rtlCol="false" tIns="0" lIns="0" bIns="0" rIns="0">
            <a:spAutoFit/>
          </a:bodyPr>
          <a:lstStyle/>
          <a:p>
            <a:pPr algn="l" marL="647700" indent="-323850" lvl="1">
              <a:lnSpc>
                <a:spcPts val="3900"/>
              </a:lnSpc>
              <a:buFont typeface="Arial"/>
              <a:buChar char="•"/>
            </a:pPr>
            <a:r>
              <a:rPr lang="en-US" sz="3000" spc="60">
                <a:solidFill>
                  <a:srgbClr val="000000"/>
                </a:solidFill>
                <a:latin typeface="Klein"/>
                <a:ea typeface="Klein"/>
                <a:cs typeface="Klein"/>
                <a:sym typeface="Klein"/>
              </a:rPr>
              <a:t>Our choice of Satellite was Sentinel-2 even though the Surface Reflectance for the Satellite was only available from April 2017 (effectively making our data points only available from 2018) against our desired starting point from 2015.</a:t>
            </a:r>
          </a:p>
          <a:p>
            <a:pPr algn="l" marL="647700" indent="-323850" lvl="1">
              <a:lnSpc>
                <a:spcPts val="3900"/>
              </a:lnSpc>
              <a:buFont typeface="Arial"/>
              <a:buChar char="•"/>
            </a:pPr>
            <a:r>
              <a:rPr lang="en-US" sz="3000" spc="60">
                <a:solidFill>
                  <a:srgbClr val="000000"/>
                </a:solidFill>
                <a:latin typeface="Klein"/>
                <a:ea typeface="Klein"/>
                <a:cs typeface="Klein"/>
                <a:sym typeface="Klein"/>
              </a:rPr>
              <a:t>This is due to the following 2 reasons:</a:t>
            </a:r>
          </a:p>
          <a:p>
            <a:pPr algn="l" marL="647700" indent="-323850" lvl="1">
              <a:lnSpc>
                <a:spcPts val="3900"/>
              </a:lnSpc>
              <a:buFont typeface="Arial"/>
              <a:buChar char="•"/>
            </a:pPr>
            <a:r>
              <a:rPr lang="en-US" sz="3000" spc="60">
                <a:solidFill>
                  <a:srgbClr val="000000"/>
                </a:solidFill>
                <a:latin typeface="Klein"/>
                <a:ea typeface="Klein"/>
                <a:cs typeface="Klein"/>
                <a:sym typeface="Klein"/>
              </a:rPr>
              <a:t>One limitation of our project was that the Monsoon data at certain points of the data collection got a bit skewed as the Cloud Cover for these months was higher than the dry months, hence the selection of Sentinel-2 was important as it allowed us more data points collection compared to Landsat 8/9 ( Sentinel-2 has a revisit period of 5 days compared to 8 days for Landsat).</a:t>
            </a:r>
          </a:p>
          <a:p>
            <a:pPr algn="l" marL="647700" indent="-323850" lvl="1">
              <a:lnSpc>
                <a:spcPts val="3900"/>
              </a:lnSpc>
              <a:buFont typeface="Arial"/>
              <a:buChar char="•"/>
            </a:pPr>
            <a:r>
              <a:rPr lang="en-US" sz="3000" spc="60">
                <a:solidFill>
                  <a:srgbClr val="000000"/>
                </a:solidFill>
                <a:latin typeface="Klein"/>
                <a:ea typeface="Klein"/>
                <a:cs typeface="Klein"/>
                <a:sym typeface="Klein"/>
              </a:rPr>
              <a:t>Sentinel-2 provides higher Spatial Resolution for our analysis (10m compared to 30m from Landsat 8/9) which is essential as our AOI is only 100kmx100km, so we need higher resolution for analysis.   </a:t>
            </a:r>
            <a:r>
              <a:rPr lang="en-US" b="true" sz="3000" spc="60">
                <a:solidFill>
                  <a:srgbClr val="000000"/>
                </a:solidFill>
                <a:latin typeface="Klein Bold"/>
                <a:ea typeface="Klein Bold"/>
                <a:cs typeface="Klein Bold"/>
                <a:sym typeface="Klein Bold"/>
              </a:rPr>
              <a:t> </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0" y="443113"/>
            <a:ext cx="16531680" cy="990600"/>
          </a:xfrm>
          <a:prstGeom prst="rect">
            <a:avLst/>
          </a:prstGeom>
        </p:spPr>
        <p:txBody>
          <a:bodyPr anchor="t" rtlCol="false" tIns="0" lIns="0" bIns="0" rIns="0">
            <a:spAutoFit/>
          </a:bodyPr>
          <a:lstStyle/>
          <a:p>
            <a:pPr algn="l">
              <a:lnSpc>
                <a:spcPts val="7800"/>
              </a:lnSpc>
              <a:spcBef>
                <a:spcPct val="0"/>
              </a:spcBef>
            </a:pPr>
            <a:r>
              <a:rPr lang="en-US" b="true" sz="6000" spc="120">
                <a:solidFill>
                  <a:srgbClr val="000000"/>
                </a:solidFill>
                <a:latin typeface="Klein Bold"/>
                <a:ea typeface="Klein Bold"/>
                <a:cs typeface="Klein Bold"/>
                <a:sym typeface="Klein Bold"/>
              </a:rPr>
              <a:t>Water Detection</a:t>
            </a:r>
          </a:p>
        </p:txBody>
      </p:sp>
      <p:grpSp>
        <p:nvGrpSpPr>
          <p:cNvPr name="Group 3" id="3"/>
          <p:cNvGrpSpPr/>
          <p:nvPr/>
        </p:nvGrpSpPr>
        <p:grpSpPr>
          <a:xfrm rot="0">
            <a:off x="0" y="1626165"/>
            <a:ext cx="18288000" cy="8660835"/>
            <a:chOff x="0" y="0"/>
            <a:chExt cx="4816593" cy="2281043"/>
          </a:xfrm>
        </p:grpSpPr>
        <p:sp>
          <p:nvSpPr>
            <p:cNvPr name="Freeform 4" id="4"/>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5" id="5"/>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0" y="3177536"/>
            <a:ext cx="15488993" cy="3971925"/>
          </a:xfrm>
          <a:prstGeom prst="rect">
            <a:avLst/>
          </a:prstGeom>
        </p:spPr>
        <p:txBody>
          <a:bodyPr anchor="t" rtlCol="false" tIns="0" lIns="0" bIns="0" rIns="0">
            <a:spAutoFit/>
          </a:bodyPr>
          <a:lstStyle/>
          <a:p>
            <a:pPr algn="l" marL="647700" indent="-323850" lvl="1">
              <a:lnSpc>
                <a:spcPts val="3900"/>
              </a:lnSpc>
              <a:buFont typeface="Arial"/>
              <a:buChar char="•"/>
            </a:pPr>
            <a:r>
              <a:rPr lang="en-US" sz="3000" spc="60">
                <a:solidFill>
                  <a:srgbClr val="000000"/>
                </a:solidFill>
                <a:latin typeface="Klein"/>
                <a:ea typeface="Klein"/>
                <a:cs typeface="Klein"/>
                <a:sym typeface="Klein"/>
              </a:rPr>
              <a:t>Spectral Water Indices (MNDWI/NDWI)</a:t>
            </a:r>
          </a:p>
          <a:p>
            <a:pPr algn="l" marL="647700" indent="-323850" lvl="1">
              <a:lnSpc>
                <a:spcPts val="3900"/>
              </a:lnSpc>
              <a:buFont typeface="Arial"/>
              <a:buChar char="•"/>
            </a:pPr>
            <a:r>
              <a:rPr lang="en-US" sz="3000" spc="60">
                <a:solidFill>
                  <a:srgbClr val="000000"/>
                </a:solidFill>
                <a:latin typeface="Klein"/>
                <a:ea typeface="Klein"/>
                <a:cs typeface="Klein"/>
                <a:sym typeface="Klein"/>
              </a:rPr>
              <a:t>The data has been mapped from 2018 to 2025 to observe seasonal as well temporal changes in the AOI.</a:t>
            </a:r>
          </a:p>
          <a:p>
            <a:pPr algn="l" marL="647700" indent="-323850" lvl="1">
              <a:lnSpc>
                <a:spcPts val="3900"/>
              </a:lnSpc>
              <a:buFont typeface="Arial"/>
              <a:buChar char="•"/>
            </a:pPr>
            <a:r>
              <a:rPr lang="en-US" sz="3000" spc="60">
                <a:solidFill>
                  <a:srgbClr val="000000"/>
                </a:solidFill>
                <a:latin typeface="Klein"/>
                <a:ea typeface="Klein"/>
                <a:cs typeface="Klein"/>
                <a:sym typeface="Klein"/>
              </a:rPr>
              <a:t>The seasons included for analysis are Winters, Summers and Monsoon.</a:t>
            </a:r>
          </a:p>
          <a:p>
            <a:pPr algn="l" marL="647700" indent="-323850" lvl="1">
              <a:lnSpc>
                <a:spcPts val="3900"/>
              </a:lnSpc>
              <a:buFont typeface="Arial"/>
              <a:buChar char="•"/>
            </a:pPr>
            <a:r>
              <a:rPr lang="en-US" sz="3000" spc="60">
                <a:solidFill>
                  <a:srgbClr val="000000"/>
                </a:solidFill>
                <a:latin typeface="Klein"/>
                <a:ea typeface="Klein"/>
                <a:cs typeface="Klein"/>
                <a:sym typeface="Klein"/>
              </a:rPr>
              <a:t>Winters: October to February</a:t>
            </a:r>
          </a:p>
          <a:p>
            <a:pPr algn="l" marL="647700" indent="-323850" lvl="1">
              <a:lnSpc>
                <a:spcPts val="3900"/>
              </a:lnSpc>
              <a:buFont typeface="Arial"/>
              <a:buChar char="•"/>
            </a:pPr>
            <a:r>
              <a:rPr lang="en-US" sz="3000" spc="60">
                <a:solidFill>
                  <a:srgbClr val="000000"/>
                </a:solidFill>
                <a:latin typeface="Klein"/>
                <a:ea typeface="Klein"/>
                <a:cs typeface="Klein"/>
                <a:sym typeface="Klein"/>
              </a:rPr>
              <a:t>Summers: March to June</a:t>
            </a:r>
          </a:p>
          <a:p>
            <a:pPr algn="l" marL="647700" indent="-323850" lvl="1">
              <a:lnSpc>
                <a:spcPts val="3900"/>
              </a:lnSpc>
              <a:buFont typeface="Arial"/>
              <a:buChar char="•"/>
            </a:pPr>
            <a:r>
              <a:rPr lang="en-US" sz="3000" spc="60">
                <a:solidFill>
                  <a:srgbClr val="000000"/>
                </a:solidFill>
                <a:latin typeface="Klein"/>
                <a:ea typeface="Klein"/>
                <a:cs typeface="Klein"/>
                <a:sym typeface="Klein"/>
              </a:rPr>
              <a:t>Monsoon: July to September</a:t>
            </a:r>
          </a:p>
          <a:p>
            <a:pPr algn="l">
              <a:lnSpc>
                <a:spcPts val="39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9144000" cy="5044171"/>
          </a:xfrm>
          <a:custGeom>
            <a:avLst/>
            <a:gdLst/>
            <a:ahLst/>
            <a:cxnLst/>
            <a:rect r="r" b="b" t="t" l="l"/>
            <a:pathLst>
              <a:path h="5044171" w="9144000">
                <a:moveTo>
                  <a:pt x="0" y="0"/>
                </a:moveTo>
                <a:lnTo>
                  <a:pt x="9144000" y="0"/>
                </a:lnTo>
                <a:lnTo>
                  <a:pt x="9144000" y="5044171"/>
                </a:lnTo>
                <a:lnTo>
                  <a:pt x="0" y="5044171"/>
                </a:lnTo>
                <a:lnTo>
                  <a:pt x="0" y="0"/>
                </a:lnTo>
                <a:close/>
              </a:path>
            </a:pathLst>
          </a:custGeom>
          <a:blipFill>
            <a:blip r:embed="rId2"/>
            <a:stretch>
              <a:fillRect l="0" t="0" r="0" b="0"/>
            </a:stretch>
          </a:blipFill>
        </p:spPr>
      </p:sp>
      <p:sp>
        <p:nvSpPr>
          <p:cNvPr name="Freeform 3" id="3"/>
          <p:cNvSpPr/>
          <p:nvPr/>
        </p:nvSpPr>
        <p:spPr>
          <a:xfrm flipH="false" flipV="false" rot="0">
            <a:off x="9144000" y="0"/>
            <a:ext cx="9144000" cy="5044171"/>
          </a:xfrm>
          <a:custGeom>
            <a:avLst/>
            <a:gdLst/>
            <a:ahLst/>
            <a:cxnLst/>
            <a:rect r="r" b="b" t="t" l="l"/>
            <a:pathLst>
              <a:path h="5044171" w="9144000">
                <a:moveTo>
                  <a:pt x="0" y="0"/>
                </a:moveTo>
                <a:lnTo>
                  <a:pt x="9144000" y="0"/>
                </a:lnTo>
                <a:lnTo>
                  <a:pt x="9144000" y="5044171"/>
                </a:lnTo>
                <a:lnTo>
                  <a:pt x="0" y="5044171"/>
                </a:lnTo>
                <a:lnTo>
                  <a:pt x="0" y="0"/>
                </a:lnTo>
                <a:close/>
              </a:path>
            </a:pathLst>
          </a:custGeom>
          <a:blipFill>
            <a:blip r:embed="rId3"/>
            <a:stretch>
              <a:fillRect l="0" t="0" r="0" b="0"/>
            </a:stretch>
          </a:blipFill>
        </p:spPr>
      </p:sp>
      <p:sp>
        <p:nvSpPr>
          <p:cNvPr name="Freeform 4" id="4"/>
          <p:cNvSpPr/>
          <p:nvPr/>
        </p:nvSpPr>
        <p:spPr>
          <a:xfrm flipH="false" flipV="false" rot="0">
            <a:off x="9144000" y="5242829"/>
            <a:ext cx="9144000" cy="5044171"/>
          </a:xfrm>
          <a:custGeom>
            <a:avLst/>
            <a:gdLst/>
            <a:ahLst/>
            <a:cxnLst/>
            <a:rect r="r" b="b" t="t" l="l"/>
            <a:pathLst>
              <a:path h="5044171" w="9144000">
                <a:moveTo>
                  <a:pt x="0" y="0"/>
                </a:moveTo>
                <a:lnTo>
                  <a:pt x="9144000" y="0"/>
                </a:lnTo>
                <a:lnTo>
                  <a:pt x="9144000" y="5044171"/>
                </a:lnTo>
                <a:lnTo>
                  <a:pt x="0" y="5044171"/>
                </a:lnTo>
                <a:lnTo>
                  <a:pt x="0" y="0"/>
                </a:lnTo>
                <a:close/>
              </a:path>
            </a:pathLst>
          </a:custGeom>
          <a:blipFill>
            <a:blip r:embed="rId4"/>
            <a:stretch>
              <a:fillRect l="0" t="0" r="0" b="0"/>
            </a:stretch>
          </a:blipFill>
        </p:spPr>
      </p:sp>
      <p:sp>
        <p:nvSpPr>
          <p:cNvPr name="Freeform 5" id="5"/>
          <p:cNvSpPr/>
          <p:nvPr/>
        </p:nvSpPr>
        <p:spPr>
          <a:xfrm flipH="false" flipV="false" rot="0">
            <a:off x="0" y="5242829"/>
            <a:ext cx="9144000" cy="5044171"/>
          </a:xfrm>
          <a:custGeom>
            <a:avLst/>
            <a:gdLst/>
            <a:ahLst/>
            <a:cxnLst/>
            <a:rect r="r" b="b" t="t" l="l"/>
            <a:pathLst>
              <a:path h="5044171" w="9144000">
                <a:moveTo>
                  <a:pt x="0" y="0"/>
                </a:moveTo>
                <a:lnTo>
                  <a:pt x="9144000" y="0"/>
                </a:lnTo>
                <a:lnTo>
                  <a:pt x="9144000" y="5044171"/>
                </a:lnTo>
                <a:lnTo>
                  <a:pt x="0" y="5044171"/>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0" y="216853"/>
            <a:ext cx="11879580" cy="1028700"/>
          </a:xfrm>
          <a:prstGeom prst="rect">
            <a:avLst/>
          </a:prstGeom>
        </p:spPr>
        <p:txBody>
          <a:bodyPr anchor="t" rtlCol="false" tIns="0" lIns="0" bIns="0" rIns="0">
            <a:spAutoFit/>
          </a:bodyPr>
          <a:lstStyle/>
          <a:p>
            <a:pPr algn="l">
              <a:lnSpc>
                <a:spcPts val="8400"/>
              </a:lnSpc>
            </a:pPr>
            <a:r>
              <a:rPr lang="en-US" sz="6000" b="true">
                <a:solidFill>
                  <a:srgbClr val="000000"/>
                </a:solidFill>
                <a:latin typeface="Canva Sans Bold"/>
                <a:ea typeface="Canva Sans Bold"/>
                <a:cs typeface="Canva Sans Bold"/>
                <a:sym typeface="Canva Sans Bold"/>
              </a:rPr>
              <a:t>River and Reservoirs Separation</a:t>
            </a:r>
          </a:p>
        </p:txBody>
      </p:sp>
      <p:grpSp>
        <p:nvGrpSpPr>
          <p:cNvPr name="Group 3" id="3"/>
          <p:cNvGrpSpPr/>
          <p:nvPr/>
        </p:nvGrpSpPr>
        <p:grpSpPr>
          <a:xfrm rot="0">
            <a:off x="0" y="1626165"/>
            <a:ext cx="18288000" cy="8660835"/>
            <a:chOff x="0" y="0"/>
            <a:chExt cx="4816593" cy="2281043"/>
          </a:xfrm>
        </p:grpSpPr>
        <p:sp>
          <p:nvSpPr>
            <p:cNvPr name="Freeform 4" id="4"/>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5" id="5"/>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0" y="3203293"/>
            <a:ext cx="18288000" cy="4686300"/>
          </a:xfrm>
          <a:prstGeom prst="rect">
            <a:avLst/>
          </a:prstGeom>
        </p:spPr>
        <p:txBody>
          <a:bodyPr anchor="t" rtlCol="false" tIns="0" lIns="0" bIns="0" rIns="0">
            <a:spAutoFit/>
          </a:bodyPr>
          <a:lstStyle/>
          <a:p>
            <a:pPr algn="l" marL="647697" indent="-323848" lvl="1">
              <a:lnSpc>
                <a:spcPts val="4199"/>
              </a:lnSpc>
              <a:buFont typeface="Arial"/>
              <a:buChar char="•"/>
            </a:pPr>
            <a:r>
              <a:rPr lang="en-US" sz="2999">
                <a:solidFill>
                  <a:srgbClr val="000000"/>
                </a:solidFill>
                <a:latin typeface="Canva Sans"/>
                <a:ea typeface="Canva Sans"/>
                <a:cs typeface="Canva Sans"/>
                <a:sym typeface="Canva Sans"/>
              </a:rPr>
              <a:t>Firstly we need to separate the rivers and reservoirs from each other to extract the proper analysis we require from them( Reservoir Area and River Width Analysis).</a:t>
            </a:r>
          </a:p>
          <a:p>
            <a:pPr algn="l" marL="647697" indent="-323848" lvl="1">
              <a:lnSpc>
                <a:spcPts val="4199"/>
              </a:lnSpc>
              <a:buFont typeface="Arial"/>
              <a:buChar char="•"/>
            </a:pPr>
            <a:r>
              <a:rPr lang="en-US" sz="2999">
                <a:solidFill>
                  <a:srgbClr val="000000"/>
                </a:solidFill>
                <a:latin typeface="Canva Sans"/>
                <a:ea typeface="Canva Sans"/>
                <a:cs typeface="Canva Sans"/>
                <a:sym typeface="Canva Sans"/>
              </a:rPr>
              <a:t>The script cleans up the map by ignoring any small, stray water patches (anything under 1 km²), focusing only on the significant water bodies.</a:t>
            </a:r>
          </a:p>
          <a:p>
            <a:pPr algn="l" marL="647697" indent="-323848" lvl="1">
              <a:lnSpc>
                <a:spcPts val="4199"/>
              </a:lnSpc>
              <a:buFont typeface="Arial"/>
              <a:buChar char="•"/>
            </a:pPr>
            <a:r>
              <a:rPr lang="en-US" sz="2999">
                <a:solidFill>
                  <a:srgbClr val="000000"/>
                </a:solidFill>
                <a:latin typeface="Canva Sans"/>
                <a:ea typeface="Canva Sans"/>
                <a:cs typeface="Canva Sans"/>
                <a:sym typeface="Canva Sans"/>
              </a:rPr>
              <a:t>Then, it tries to tell the difference between wide reservoirs and the rivers. It does so by shrinking the edges of every water body inwards by x meters.</a:t>
            </a:r>
          </a:p>
          <a:p>
            <a:pPr algn="l" marL="647697" indent="-323848" lvl="1">
              <a:lnSpc>
                <a:spcPts val="4199"/>
              </a:lnSpc>
              <a:buFont typeface="Arial"/>
              <a:buChar char="•"/>
            </a:pPr>
            <a:r>
              <a:rPr lang="en-US" sz="2999">
                <a:solidFill>
                  <a:srgbClr val="000000"/>
                </a:solidFill>
                <a:latin typeface="Canva Sans"/>
                <a:ea typeface="Canva Sans"/>
                <a:cs typeface="Canva Sans"/>
                <a:sym typeface="Canva Sans"/>
              </a:rPr>
              <a:t>If a water body disappears completely when shrunk (meaning it wasn’t wide, less than 2x m wide), the script calls it a river.</a:t>
            </a:r>
          </a:p>
          <a:p>
            <a:pPr algn="l" marL="647697" indent="-323848" lvl="1">
              <a:lnSpc>
                <a:spcPts val="4199"/>
              </a:lnSpc>
              <a:buFont typeface="Arial"/>
              <a:buChar char="•"/>
            </a:pPr>
            <a:r>
              <a:rPr lang="en-US" sz="2999">
                <a:solidFill>
                  <a:srgbClr val="000000"/>
                </a:solidFill>
                <a:latin typeface="Canva Sans"/>
                <a:ea typeface="Canva Sans"/>
                <a:cs typeface="Canva Sans"/>
                <a:sym typeface="Canva Sans"/>
              </a:rPr>
              <a:t>If a "core" is left over, the script assumes that it is a reservoir.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1240498" y="697878"/>
            <a:ext cx="16351713" cy="8891244"/>
          </a:xfrm>
          <a:custGeom>
            <a:avLst/>
            <a:gdLst/>
            <a:ahLst/>
            <a:cxnLst/>
            <a:rect r="r" b="b" t="t" l="l"/>
            <a:pathLst>
              <a:path h="8891244" w="16351713">
                <a:moveTo>
                  <a:pt x="0" y="0"/>
                </a:moveTo>
                <a:lnTo>
                  <a:pt x="16351713" y="0"/>
                </a:lnTo>
                <a:lnTo>
                  <a:pt x="16351713" y="8891244"/>
                </a:lnTo>
                <a:lnTo>
                  <a:pt x="0" y="8891244"/>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360139" y="495300"/>
            <a:ext cx="17567722" cy="990600"/>
          </a:xfrm>
          <a:prstGeom prst="rect">
            <a:avLst/>
          </a:prstGeom>
        </p:spPr>
        <p:txBody>
          <a:bodyPr anchor="t" rtlCol="false" tIns="0" lIns="0" bIns="0" rIns="0">
            <a:spAutoFit/>
          </a:bodyPr>
          <a:lstStyle/>
          <a:p>
            <a:pPr algn="l">
              <a:lnSpc>
                <a:spcPts val="7800"/>
              </a:lnSpc>
              <a:spcBef>
                <a:spcPct val="0"/>
              </a:spcBef>
            </a:pPr>
            <a:r>
              <a:rPr lang="en-US" b="true" sz="6000" spc="120">
                <a:solidFill>
                  <a:srgbClr val="000000"/>
                </a:solidFill>
                <a:latin typeface="Klein Bold"/>
                <a:ea typeface="Klein Bold"/>
                <a:cs typeface="Klein Bold"/>
                <a:sym typeface="Klein Bold"/>
              </a:rPr>
              <a:t>Reserv</a:t>
            </a:r>
            <a:r>
              <a:rPr lang="en-US" b="true" sz="6000" spc="120">
                <a:solidFill>
                  <a:srgbClr val="000000"/>
                </a:solidFill>
                <a:latin typeface="Klein Bold"/>
                <a:ea typeface="Klein Bold"/>
                <a:cs typeface="Klein Bold"/>
                <a:sym typeface="Klein Bold"/>
              </a:rPr>
              <a:t>oir Area Extraction</a:t>
            </a:r>
          </a:p>
        </p:txBody>
      </p:sp>
      <p:grpSp>
        <p:nvGrpSpPr>
          <p:cNvPr name="Group 3" id="3"/>
          <p:cNvGrpSpPr/>
          <p:nvPr/>
        </p:nvGrpSpPr>
        <p:grpSpPr>
          <a:xfrm rot="0">
            <a:off x="0" y="1626165"/>
            <a:ext cx="18288000" cy="8660835"/>
            <a:chOff x="0" y="0"/>
            <a:chExt cx="4816593" cy="2281043"/>
          </a:xfrm>
        </p:grpSpPr>
        <p:sp>
          <p:nvSpPr>
            <p:cNvPr name="Freeform 4" id="4"/>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5" id="5"/>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718747" y="3174374"/>
            <a:ext cx="13794824" cy="3881102"/>
          </a:xfrm>
          <a:prstGeom prst="rect">
            <a:avLst/>
          </a:prstGeom>
        </p:spPr>
        <p:txBody>
          <a:bodyPr anchor="t" rtlCol="false" tIns="0" lIns="0" bIns="0" rIns="0">
            <a:spAutoFit/>
          </a:bodyPr>
          <a:lstStyle/>
          <a:p>
            <a:pPr algn="l" marL="734372" indent="-367186" lvl="1">
              <a:lnSpc>
                <a:spcPts val="4421"/>
              </a:lnSpc>
              <a:buFont typeface="Arial"/>
              <a:buChar char="•"/>
            </a:pPr>
            <a:r>
              <a:rPr lang="en-US" sz="3401" spc="68" u="sng">
                <a:solidFill>
                  <a:srgbClr val="000000"/>
                </a:solidFill>
                <a:latin typeface="Klein"/>
                <a:ea typeface="Klein"/>
                <a:cs typeface="Klein"/>
                <a:sym typeface="Klein"/>
              </a:rPr>
              <a:t>Area Calculation</a:t>
            </a:r>
            <a:r>
              <a:rPr lang="en-US" sz="3401" spc="68">
                <a:solidFill>
                  <a:srgbClr val="000000"/>
                </a:solidFill>
                <a:latin typeface="Klein"/>
                <a:ea typeface="Klein"/>
                <a:cs typeface="Klein"/>
                <a:sym typeface="Klein"/>
              </a:rPr>
              <a:t> counts the number of water pixels within the clipped reservoir boundary and multiplies by the pixel area (10m×10m) to get the total water surface area in square meters.</a:t>
            </a:r>
          </a:p>
          <a:p>
            <a:pPr algn="l" marL="734372" indent="-367186" lvl="1">
              <a:lnSpc>
                <a:spcPts val="4421"/>
              </a:lnSpc>
              <a:buFont typeface="Arial"/>
              <a:buChar char="•"/>
            </a:pPr>
            <a:r>
              <a:rPr lang="en-US" sz="3401" spc="68" u="sng">
                <a:solidFill>
                  <a:srgbClr val="000000"/>
                </a:solidFill>
                <a:latin typeface="Klein"/>
                <a:ea typeface="Klein"/>
                <a:cs typeface="Klein"/>
                <a:sym typeface="Klein"/>
              </a:rPr>
              <a:t>Time-Series Generation</a:t>
            </a:r>
            <a:r>
              <a:rPr lang="en-US" sz="3401" spc="68">
                <a:solidFill>
                  <a:srgbClr val="000000"/>
                </a:solidFill>
                <a:latin typeface="Klein"/>
                <a:ea typeface="Klein"/>
                <a:cs typeface="Klein"/>
                <a:sym typeface="Klein"/>
              </a:rPr>
              <a:t> plots the calculated area for each month/season over the years (2018-2025) to create a graph showing filling/drying cycles and long-term trends.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783208" cy="6817983"/>
          </a:xfrm>
          <a:custGeom>
            <a:avLst/>
            <a:gdLst/>
            <a:ahLst/>
            <a:cxnLst/>
            <a:rect r="r" b="b" t="t" l="l"/>
            <a:pathLst>
              <a:path h="6817983" w="8783208">
                <a:moveTo>
                  <a:pt x="0" y="0"/>
                </a:moveTo>
                <a:lnTo>
                  <a:pt x="8783208" y="0"/>
                </a:lnTo>
                <a:lnTo>
                  <a:pt x="8783208" y="6817983"/>
                </a:lnTo>
                <a:lnTo>
                  <a:pt x="0" y="6817983"/>
                </a:lnTo>
                <a:lnTo>
                  <a:pt x="0" y="0"/>
                </a:lnTo>
                <a:close/>
              </a:path>
            </a:pathLst>
          </a:custGeom>
          <a:blipFill>
            <a:blip r:embed="rId2"/>
            <a:stretch>
              <a:fillRect l="0" t="0" r="-1803" b="0"/>
            </a:stretch>
          </a:blipFill>
        </p:spPr>
      </p:sp>
      <p:sp>
        <p:nvSpPr>
          <p:cNvPr name="TextBox 3" id="3"/>
          <p:cNvSpPr txBox="true"/>
          <p:nvPr/>
        </p:nvSpPr>
        <p:spPr>
          <a:xfrm rot="0">
            <a:off x="0" y="7114796"/>
            <a:ext cx="17508979" cy="2486025"/>
          </a:xfrm>
          <a:prstGeom prst="rect">
            <a:avLst/>
          </a:prstGeom>
        </p:spPr>
        <p:txBody>
          <a:bodyPr anchor="t" rtlCol="false" tIns="0" lIns="0" bIns="0" rIns="0">
            <a:spAutoFit/>
          </a:bodyPr>
          <a:lstStyle/>
          <a:p>
            <a:pPr algn="l" marL="647700" indent="-323850" lvl="1">
              <a:lnSpc>
                <a:spcPts val="3900"/>
              </a:lnSpc>
              <a:buFont typeface="Arial"/>
              <a:buChar char="•"/>
            </a:pPr>
            <a:r>
              <a:rPr lang="en-US" b="true" sz="3000" spc="60">
                <a:solidFill>
                  <a:srgbClr val="000000"/>
                </a:solidFill>
                <a:latin typeface="Klein Bold"/>
                <a:ea typeface="Klein Bold"/>
                <a:cs typeface="Klein Bold"/>
                <a:sym typeface="Klein Bold"/>
              </a:rPr>
              <a:t>The area for the summers is lowest, which is expected.</a:t>
            </a:r>
          </a:p>
          <a:p>
            <a:pPr algn="l" marL="647700" indent="-323850" lvl="1">
              <a:lnSpc>
                <a:spcPts val="3900"/>
              </a:lnSpc>
              <a:buFont typeface="Arial"/>
              <a:buChar char="•"/>
            </a:pPr>
            <a:r>
              <a:rPr lang="en-US" b="true" sz="3000" spc="60">
                <a:solidFill>
                  <a:srgbClr val="000000"/>
                </a:solidFill>
                <a:latin typeface="Klein Bold"/>
                <a:ea typeface="Klein Bold"/>
                <a:cs typeface="Klein Bold"/>
                <a:sym typeface="Klein Bold"/>
              </a:rPr>
              <a:t>The area for winter being slightly higher than Monsoon is also an interesting finding, indicating that the main reservoir (the one feeding the Krishna River) is not at its maximum since there needs to be space for rainwater during Monsoon hence the Dam is opened more frequently than Winters.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0" y="540202"/>
            <a:ext cx="18858304" cy="990600"/>
          </a:xfrm>
          <a:prstGeom prst="rect">
            <a:avLst/>
          </a:prstGeom>
        </p:spPr>
        <p:txBody>
          <a:bodyPr anchor="t" rtlCol="false" tIns="0" lIns="0" bIns="0" rIns="0">
            <a:spAutoFit/>
          </a:bodyPr>
          <a:lstStyle/>
          <a:p>
            <a:pPr algn="l">
              <a:lnSpc>
                <a:spcPts val="7800"/>
              </a:lnSpc>
              <a:spcBef>
                <a:spcPct val="0"/>
              </a:spcBef>
            </a:pPr>
            <a:r>
              <a:rPr lang="en-US" b="true" sz="6000" spc="120">
                <a:solidFill>
                  <a:srgbClr val="000000"/>
                </a:solidFill>
                <a:latin typeface="Klein Bold"/>
                <a:ea typeface="Klein Bold"/>
                <a:cs typeface="Klein Bold"/>
                <a:sym typeface="Klein Bold"/>
              </a:rPr>
              <a:t>Rive</a:t>
            </a:r>
            <a:r>
              <a:rPr lang="en-US" b="true" sz="6000" spc="120">
                <a:solidFill>
                  <a:srgbClr val="000000"/>
                </a:solidFill>
                <a:latin typeface="Klein Bold"/>
                <a:ea typeface="Klein Bold"/>
                <a:cs typeface="Klein Bold"/>
                <a:sym typeface="Klein Bold"/>
              </a:rPr>
              <a:t>r Width Analysis</a:t>
            </a:r>
          </a:p>
        </p:txBody>
      </p:sp>
      <p:grpSp>
        <p:nvGrpSpPr>
          <p:cNvPr name="Group 3" id="3"/>
          <p:cNvGrpSpPr/>
          <p:nvPr/>
        </p:nvGrpSpPr>
        <p:grpSpPr>
          <a:xfrm rot="0">
            <a:off x="0" y="1626165"/>
            <a:ext cx="18288000" cy="8660835"/>
            <a:chOff x="0" y="0"/>
            <a:chExt cx="4816593" cy="2281043"/>
          </a:xfrm>
        </p:grpSpPr>
        <p:sp>
          <p:nvSpPr>
            <p:cNvPr name="Freeform 4" id="4"/>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5" id="5"/>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0" y="2071335"/>
            <a:ext cx="18288000" cy="6943725"/>
          </a:xfrm>
          <a:prstGeom prst="rect">
            <a:avLst/>
          </a:prstGeom>
        </p:spPr>
        <p:txBody>
          <a:bodyPr anchor="t" rtlCol="false" tIns="0" lIns="0" bIns="0" rIns="0">
            <a:spAutoFit/>
          </a:bodyPr>
          <a:lstStyle/>
          <a:p>
            <a:pPr algn="l" marL="647700" indent="-323850" lvl="1">
              <a:lnSpc>
                <a:spcPts val="3900"/>
              </a:lnSpc>
              <a:buFont typeface="Arial"/>
              <a:buChar char="•"/>
            </a:pPr>
            <a:r>
              <a:rPr lang="en-US" sz="3000" spc="60">
                <a:solidFill>
                  <a:srgbClr val="000000"/>
                </a:solidFill>
                <a:latin typeface="Klein"/>
                <a:ea typeface="Klein"/>
                <a:cs typeface="Klein"/>
                <a:sym typeface="Klein"/>
              </a:rPr>
              <a:t>Uses a simple estimation to calculate average river width of the river from the separated Rivers file. (This file is stored as a shapefile for all the years just so I can extract the main river- Krishna for analysis such as River Width and Channel Migration and Meandering) </a:t>
            </a:r>
          </a:p>
          <a:p>
            <a:pPr algn="l" marL="647700" indent="-323850" lvl="1">
              <a:lnSpc>
                <a:spcPts val="3900"/>
              </a:lnSpc>
              <a:buFont typeface="Arial"/>
              <a:buChar char="•"/>
            </a:pPr>
            <a:r>
              <a:rPr lang="en-US" sz="3000" spc="60">
                <a:solidFill>
                  <a:srgbClr val="000000"/>
                </a:solidFill>
                <a:latin typeface="Klein"/>
                <a:ea typeface="Klein"/>
                <a:cs typeface="Klein"/>
                <a:sym typeface="Klein"/>
              </a:rPr>
              <a:t>The calculation:</a:t>
            </a:r>
          </a:p>
          <a:p>
            <a:pPr algn="ctr">
              <a:lnSpc>
                <a:spcPts val="3900"/>
              </a:lnSpc>
            </a:pPr>
            <a:r>
              <a:rPr lang="en-US" sz="3000" spc="60">
                <a:solidFill>
                  <a:srgbClr val="000000"/>
                </a:solidFill>
                <a:latin typeface="Klein"/>
                <a:ea typeface="Klein"/>
                <a:cs typeface="Klein"/>
                <a:sym typeface="Klein"/>
              </a:rPr>
              <a:t>Area = Width(w) x Length(l)</a:t>
            </a:r>
          </a:p>
          <a:p>
            <a:pPr algn="ctr">
              <a:lnSpc>
                <a:spcPts val="3900"/>
              </a:lnSpc>
            </a:pPr>
            <a:r>
              <a:rPr lang="en-US" sz="3000" spc="60">
                <a:solidFill>
                  <a:srgbClr val="000000"/>
                </a:solidFill>
                <a:latin typeface="Klein"/>
                <a:ea typeface="Klein"/>
                <a:cs typeface="Klein"/>
                <a:sym typeface="Klein"/>
              </a:rPr>
              <a:t>Perimeter= 2 x (w + l)</a:t>
            </a:r>
          </a:p>
          <a:p>
            <a:pPr algn="ctr">
              <a:lnSpc>
                <a:spcPts val="3900"/>
              </a:lnSpc>
            </a:pPr>
            <a:r>
              <a:rPr lang="en-US" sz="3000" spc="60">
                <a:solidFill>
                  <a:srgbClr val="000000"/>
                </a:solidFill>
                <a:latin typeface="Klein"/>
                <a:ea typeface="Klein"/>
                <a:cs typeface="Klein"/>
                <a:sym typeface="Klein"/>
              </a:rPr>
              <a:t>But for a river, w &lt;&lt; l</a:t>
            </a:r>
          </a:p>
          <a:p>
            <a:pPr algn="ctr">
              <a:lnSpc>
                <a:spcPts val="3900"/>
              </a:lnSpc>
            </a:pPr>
            <a:r>
              <a:rPr lang="en-US" sz="3000" spc="60">
                <a:solidFill>
                  <a:srgbClr val="000000"/>
                </a:solidFill>
                <a:latin typeface="Klein"/>
                <a:ea typeface="Klein"/>
                <a:cs typeface="Klein"/>
                <a:sym typeface="Klein"/>
              </a:rPr>
              <a:t>w + l ~ l</a:t>
            </a:r>
          </a:p>
          <a:p>
            <a:pPr algn="ctr">
              <a:lnSpc>
                <a:spcPts val="3900"/>
              </a:lnSpc>
            </a:pPr>
            <a:r>
              <a:rPr lang="en-US" sz="3000" spc="60">
                <a:solidFill>
                  <a:srgbClr val="000000"/>
                </a:solidFill>
                <a:latin typeface="Klein"/>
                <a:ea typeface="Klein"/>
                <a:cs typeface="Klein"/>
                <a:sym typeface="Klein"/>
              </a:rPr>
              <a:t>Area = w x (Perimeter / 2)</a:t>
            </a:r>
          </a:p>
          <a:p>
            <a:pPr algn="ctr">
              <a:lnSpc>
                <a:spcPts val="3900"/>
              </a:lnSpc>
            </a:pPr>
            <a:r>
              <a:rPr lang="en-US" sz="3000" spc="60">
                <a:solidFill>
                  <a:srgbClr val="000000"/>
                </a:solidFill>
                <a:latin typeface="Klein"/>
                <a:ea typeface="Klein"/>
                <a:cs typeface="Klein"/>
                <a:sym typeface="Klein"/>
              </a:rPr>
              <a:t>w= 2 x (Area / Perimeter)</a:t>
            </a:r>
          </a:p>
          <a:p>
            <a:pPr algn="l">
              <a:lnSpc>
                <a:spcPts val="3900"/>
              </a:lnSpc>
            </a:pPr>
          </a:p>
          <a:p>
            <a:pPr algn="l" marL="647700" indent="-323850" lvl="1">
              <a:lnSpc>
                <a:spcPts val="3900"/>
              </a:lnSpc>
              <a:buFont typeface="Arial"/>
              <a:buChar char="•"/>
            </a:pPr>
            <a:r>
              <a:rPr lang="en-US" sz="3000" spc="60">
                <a:solidFill>
                  <a:srgbClr val="000000"/>
                </a:solidFill>
                <a:latin typeface="Klein"/>
                <a:ea typeface="Klein"/>
                <a:cs typeface="Klein"/>
                <a:sym typeface="Klein"/>
              </a:rPr>
              <a:t>This width is an approximation for the average width for the entire length of the river.</a:t>
            </a:r>
          </a:p>
          <a:p>
            <a:pPr algn="l">
              <a:lnSpc>
                <a:spcPts val="390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8736241" y="224609"/>
            <a:ext cx="9551759" cy="6339980"/>
          </a:xfrm>
          <a:custGeom>
            <a:avLst/>
            <a:gdLst/>
            <a:ahLst/>
            <a:cxnLst/>
            <a:rect r="r" b="b" t="t" l="l"/>
            <a:pathLst>
              <a:path h="6339980" w="9551759">
                <a:moveTo>
                  <a:pt x="0" y="0"/>
                </a:moveTo>
                <a:lnTo>
                  <a:pt x="9551759" y="0"/>
                </a:lnTo>
                <a:lnTo>
                  <a:pt x="9551759" y="6339980"/>
                </a:lnTo>
                <a:lnTo>
                  <a:pt x="0" y="6339980"/>
                </a:lnTo>
                <a:lnTo>
                  <a:pt x="0" y="0"/>
                </a:lnTo>
                <a:close/>
              </a:path>
            </a:pathLst>
          </a:custGeom>
          <a:blipFill>
            <a:blip r:embed="rId2"/>
            <a:stretch>
              <a:fillRect l="0" t="0" r="0" b="0"/>
            </a:stretch>
          </a:blipFill>
        </p:spPr>
      </p:sp>
      <p:sp>
        <p:nvSpPr>
          <p:cNvPr name="Freeform 3" id="3"/>
          <p:cNvSpPr/>
          <p:nvPr/>
        </p:nvSpPr>
        <p:spPr>
          <a:xfrm flipH="false" flipV="false" rot="0">
            <a:off x="0" y="224609"/>
            <a:ext cx="8736241" cy="6978073"/>
          </a:xfrm>
          <a:custGeom>
            <a:avLst/>
            <a:gdLst/>
            <a:ahLst/>
            <a:cxnLst/>
            <a:rect r="r" b="b" t="t" l="l"/>
            <a:pathLst>
              <a:path h="6978073" w="8736241">
                <a:moveTo>
                  <a:pt x="0" y="0"/>
                </a:moveTo>
                <a:lnTo>
                  <a:pt x="8736241" y="0"/>
                </a:lnTo>
                <a:lnTo>
                  <a:pt x="8736241" y="6978072"/>
                </a:lnTo>
                <a:lnTo>
                  <a:pt x="0" y="6978072"/>
                </a:lnTo>
                <a:lnTo>
                  <a:pt x="0" y="0"/>
                </a:lnTo>
                <a:close/>
              </a:path>
            </a:pathLst>
          </a:custGeom>
          <a:blipFill>
            <a:blip r:embed="rId3"/>
            <a:stretch>
              <a:fillRect l="0" t="0" r="0" b="0"/>
            </a:stretch>
          </a:blipFill>
        </p:spPr>
      </p:sp>
      <p:sp>
        <p:nvSpPr>
          <p:cNvPr name="TextBox 4" id="4"/>
          <p:cNvSpPr txBox="true"/>
          <p:nvPr/>
        </p:nvSpPr>
        <p:spPr>
          <a:xfrm rot="0">
            <a:off x="0" y="7590592"/>
            <a:ext cx="18288000" cy="2534285"/>
          </a:xfrm>
          <a:prstGeom prst="rect">
            <a:avLst/>
          </a:prstGeom>
        </p:spPr>
        <p:txBody>
          <a:bodyPr anchor="t" rtlCol="false" tIns="0" lIns="0" bIns="0" rIns="0">
            <a:spAutoFit/>
          </a:bodyPr>
          <a:lstStyle/>
          <a:p>
            <a:pPr algn="l" marL="474979" indent="-237490" lvl="1">
              <a:lnSpc>
                <a:spcPts val="2859"/>
              </a:lnSpc>
              <a:buFont typeface="Arial"/>
              <a:buChar char="•"/>
            </a:pPr>
            <a:r>
              <a:rPr lang="en-US" b="true" sz="2199" spc="43">
                <a:solidFill>
                  <a:srgbClr val="000000"/>
                </a:solidFill>
                <a:latin typeface="Klein Bold"/>
                <a:ea typeface="Klein Bold"/>
                <a:cs typeface="Klein Bold"/>
                <a:sym typeface="Klein Bold"/>
              </a:rPr>
              <a:t>The river width during summers is as expected due to heat and scarce rainfall.</a:t>
            </a:r>
          </a:p>
          <a:p>
            <a:pPr algn="l" marL="474979" indent="-237490" lvl="1">
              <a:lnSpc>
                <a:spcPts val="2859"/>
              </a:lnSpc>
              <a:buFont typeface="Arial"/>
              <a:buChar char="•"/>
            </a:pPr>
            <a:r>
              <a:rPr lang="en-US" b="true" sz="2199" spc="43">
                <a:solidFill>
                  <a:srgbClr val="000000"/>
                </a:solidFill>
                <a:latin typeface="Klein Bold"/>
                <a:ea typeface="Klein Bold"/>
                <a:cs typeface="Klein Bold"/>
                <a:sym typeface="Klein Bold"/>
              </a:rPr>
              <a:t>The river width for Winters and Monsoon being almost equal can be attributed to two things:</a:t>
            </a:r>
          </a:p>
          <a:p>
            <a:pPr algn="l" marL="474979" indent="-237490" lvl="1">
              <a:lnSpc>
                <a:spcPts val="2859"/>
              </a:lnSpc>
              <a:buFont typeface="Arial"/>
              <a:buChar char="•"/>
            </a:pPr>
            <a:r>
              <a:rPr lang="en-US" b="true" sz="2199" spc="43">
                <a:solidFill>
                  <a:srgbClr val="000000"/>
                </a:solidFill>
                <a:latin typeface="Klein Bold"/>
                <a:ea typeface="Klein Bold"/>
                <a:cs typeface="Klein Bold"/>
                <a:sym typeface="Klein Bold"/>
              </a:rPr>
              <a:t>The higher cloud cover makes the data collection more difficult for the Monsoon season, the years with less cloud cover like 2022 and 2025 are shown to in fact have higher Monsoon River width. </a:t>
            </a:r>
          </a:p>
          <a:p>
            <a:pPr algn="l" marL="474979" indent="-237490" lvl="1">
              <a:lnSpc>
                <a:spcPts val="2859"/>
              </a:lnSpc>
              <a:buFont typeface="Arial"/>
              <a:buChar char="•"/>
            </a:pPr>
            <a:r>
              <a:rPr lang="en-US" b="true" sz="2199" spc="43">
                <a:solidFill>
                  <a:srgbClr val="000000"/>
                </a:solidFill>
                <a:latin typeface="Klein Bold"/>
                <a:ea typeface="Klein Bold"/>
                <a:cs typeface="Klein Bold"/>
                <a:sym typeface="Klein Bold"/>
              </a:rPr>
              <a:t>The northeast Monsoons in winters do contribute to the rainfall in the region and is also marked with less sunlight, leading to more river overflowing.</a:t>
            </a:r>
          </a:p>
          <a:p>
            <a:pPr algn="ctr">
              <a:lnSpc>
                <a:spcPts val="285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0" y="317662"/>
            <a:ext cx="14102715" cy="990600"/>
          </a:xfrm>
          <a:prstGeom prst="rect">
            <a:avLst/>
          </a:prstGeom>
        </p:spPr>
        <p:txBody>
          <a:bodyPr anchor="t" rtlCol="false" tIns="0" lIns="0" bIns="0" rIns="0">
            <a:spAutoFit/>
          </a:bodyPr>
          <a:lstStyle/>
          <a:p>
            <a:pPr algn="l">
              <a:lnSpc>
                <a:spcPts val="7800"/>
              </a:lnSpc>
              <a:spcBef>
                <a:spcPct val="0"/>
              </a:spcBef>
            </a:pPr>
            <a:r>
              <a:rPr lang="en-US" b="true" sz="6000" spc="120">
                <a:solidFill>
                  <a:srgbClr val="000000"/>
                </a:solidFill>
                <a:latin typeface="Klein Bold"/>
                <a:ea typeface="Klein Bold"/>
                <a:cs typeface="Klein Bold"/>
                <a:sym typeface="Klein Bold"/>
              </a:rPr>
              <a:t>Ch</a:t>
            </a:r>
            <a:r>
              <a:rPr lang="en-US" b="true" sz="6000" spc="120">
                <a:solidFill>
                  <a:srgbClr val="000000"/>
                </a:solidFill>
                <a:latin typeface="Klein Bold"/>
                <a:ea typeface="Klein Bold"/>
                <a:cs typeface="Klein Bold"/>
                <a:sym typeface="Klein Bold"/>
              </a:rPr>
              <a:t>annel Migration and Meandering</a:t>
            </a:r>
          </a:p>
        </p:txBody>
      </p:sp>
      <p:grpSp>
        <p:nvGrpSpPr>
          <p:cNvPr name="Group 3" id="3"/>
          <p:cNvGrpSpPr/>
          <p:nvPr/>
        </p:nvGrpSpPr>
        <p:grpSpPr>
          <a:xfrm rot="0">
            <a:off x="0" y="1626165"/>
            <a:ext cx="18288000" cy="8660835"/>
            <a:chOff x="0" y="0"/>
            <a:chExt cx="4816593" cy="2281043"/>
          </a:xfrm>
        </p:grpSpPr>
        <p:sp>
          <p:nvSpPr>
            <p:cNvPr name="Freeform 4" id="4"/>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5" id="5"/>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0" y="2244886"/>
            <a:ext cx="18288000" cy="4962525"/>
          </a:xfrm>
          <a:prstGeom prst="rect">
            <a:avLst/>
          </a:prstGeom>
        </p:spPr>
        <p:txBody>
          <a:bodyPr anchor="t" rtlCol="false" tIns="0" lIns="0" bIns="0" rIns="0">
            <a:spAutoFit/>
          </a:bodyPr>
          <a:lstStyle/>
          <a:p>
            <a:pPr algn="l" marL="647700" indent="-323850" lvl="1">
              <a:lnSpc>
                <a:spcPts val="3900"/>
              </a:lnSpc>
              <a:buFont typeface="Arial"/>
              <a:buChar char="•"/>
            </a:pPr>
            <a:r>
              <a:rPr lang="en-US" sz="3000" spc="60">
                <a:solidFill>
                  <a:srgbClr val="000000"/>
                </a:solidFill>
                <a:latin typeface="Klein"/>
                <a:ea typeface="Klein"/>
                <a:cs typeface="Klein"/>
                <a:sym typeface="Klein"/>
              </a:rPr>
              <a:t>Isolate Channel: Selects and merges the main river channel from each dataset based on an X-coordinate threshold.</a:t>
            </a:r>
          </a:p>
          <a:p>
            <a:pPr algn="l" marL="647700" indent="-323850" lvl="1">
              <a:lnSpc>
                <a:spcPts val="3900"/>
              </a:lnSpc>
              <a:buFont typeface="Arial"/>
              <a:buChar char="•"/>
            </a:pPr>
            <a:r>
              <a:rPr lang="en-US" sz="3000" spc="60">
                <a:solidFill>
                  <a:srgbClr val="000000"/>
                </a:solidFill>
                <a:latin typeface="Klein"/>
                <a:ea typeface="Klein"/>
                <a:cs typeface="Klein"/>
                <a:sym typeface="Klein"/>
              </a:rPr>
              <a:t>Extract Centerline: Approximates a centerline by sampling 500 points along the outer boundary (perimeter) of each river polygon.</a:t>
            </a:r>
          </a:p>
          <a:p>
            <a:pPr algn="l" marL="647700" indent="-323850" lvl="1">
              <a:lnSpc>
                <a:spcPts val="3900"/>
              </a:lnSpc>
              <a:buFont typeface="Arial"/>
              <a:buChar char="•"/>
            </a:pPr>
            <a:r>
              <a:rPr lang="en-US" sz="3000" spc="60">
                <a:solidFill>
                  <a:srgbClr val="000000"/>
                </a:solidFill>
                <a:latin typeface="Klein"/>
                <a:ea typeface="Klein"/>
                <a:cs typeface="Klein"/>
                <a:sym typeface="Klein"/>
              </a:rPr>
              <a:t>Calculate Migration: Computes local migration rates (in m/year) by finding the minimum distance from each 2020 boundary point to the 2025 boundary and dividing by the 5-year time interval.</a:t>
            </a:r>
          </a:p>
          <a:p>
            <a:pPr algn="l" marL="647700" indent="-323850" lvl="1">
              <a:lnSpc>
                <a:spcPts val="3900"/>
              </a:lnSpc>
              <a:buFont typeface="Arial"/>
              <a:buChar char="•"/>
            </a:pPr>
            <a:r>
              <a:rPr lang="en-US" sz="3000" spc="60">
                <a:solidFill>
                  <a:srgbClr val="000000"/>
                </a:solidFill>
                <a:latin typeface="Klein"/>
                <a:ea typeface="Klein"/>
                <a:cs typeface="Klein"/>
                <a:sym typeface="Klein"/>
              </a:rPr>
              <a:t>Analyze &amp; Visualize: Calculates deviation metrics and generates a plot showing the river overlay.</a:t>
            </a:r>
          </a:p>
          <a:p>
            <a:pPr algn="l">
              <a:lnSpc>
                <a:spcPts val="390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3669941" y="0"/>
            <a:ext cx="10948118" cy="10287000"/>
          </a:xfrm>
          <a:custGeom>
            <a:avLst/>
            <a:gdLst/>
            <a:ahLst/>
            <a:cxnLst/>
            <a:rect r="r" b="b" t="t" l="l"/>
            <a:pathLst>
              <a:path h="10287000" w="10948118">
                <a:moveTo>
                  <a:pt x="0" y="0"/>
                </a:moveTo>
                <a:lnTo>
                  <a:pt x="10948118" y="0"/>
                </a:lnTo>
                <a:lnTo>
                  <a:pt x="10948118" y="10287000"/>
                </a:lnTo>
                <a:lnTo>
                  <a:pt x="0" y="10287000"/>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graphicFrame>
        <p:nvGraphicFramePr>
          <p:cNvPr name="Object 2" id="2"/>
          <p:cNvGraphicFramePr/>
          <p:nvPr/>
        </p:nvGraphicFramePr>
        <p:xfrm>
          <a:off x="3230981" y="1028700"/>
          <a:ext cx="3771900" cy="3771900"/>
        </p:xfrm>
        <a:graphic>
          <a:graphicData uri="http://schemas.openxmlformats.org/presentationml/2006/ole">
            <p:oleObj imgW="4521200" imgH="452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0" y="7382638"/>
            <a:ext cx="18288000" cy="2486025"/>
          </a:xfrm>
          <a:prstGeom prst="rect">
            <a:avLst/>
          </a:prstGeom>
        </p:spPr>
        <p:txBody>
          <a:bodyPr anchor="t" rtlCol="false" tIns="0" lIns="0" bIns="0" rIns="0">
            <a:spAutoFit/>
          </a:bodyPr>
          <a:lstStyle/>
          <a:p>
            <a:pPr algn="l" marL="647700" indent="-323850" lvl="1">
              <a:lnSpc>
                <a:spcPts val="3900"/>
              </a:lnSpc>
              <a:buFont typeface="Arial"/>
              <a:buChar char="•"/>
            </a:pPr>
            <a:r>
              <a:rPr lang="en-US" b="true" sz="3000" spc="60">
                <a:solidFill>
                  <a:srgbClr val="000000"/>
                </a:solidFill>
                <a:latin typeface="Klein Bold"/>
                <a:ea typeface="Klein Bold"/>
                <a:cs typeface="Klein Bold"/>
                <a:sym typeface="Klein Bold"/>
              </a:rPr>
              <a:t>The migration rate of 20m/year while being on the higher side compared to the 16 m/year trend (160m migration from 2010 to 2020) is still within reasonable range.</a:t>
            </a:r>
          </a:p>
          <a:p>
            <a:pPr algn="l" marL="647700" indent="-323850" lvl="1">
              <a:lnSpc>
                <a:spcPts val="3900"/>
              </a:lnSpc>
              <a:buFont typeface="Arial"/>
              <a:buChar char="•"/>
            </a:pPr>
            <a:r>
              <a:rPr lang="en-US" b="true" sz="3000" spc="60">
                <a:solidFill>
                  <a:srgbClr val="000000"/>
                </a:solidFill>
                <a:latin typeface="Klein Bold"/>
                <a:ea typeface="Klein Bold"/>
                <a:cs typeface="Klein Bold"/>
                <a:sym typeface="Klein Bold"/>
              </a:rPr>
              <a:t>The rate is highly dependent on the hotspots its measured at . its more difficult to change course at rocky, steep banks compared to banks composed of soil or ones which are smoother.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0" y="-60503"/>
            <a:ext cx="18288000" cy="1273957"/>
            <a:chOff x="0" y="0"/>
            <a:chExt cx="4816593" cy="335528"/>
          </a:xfrm>
        </p:grpSpPr>
        <p:sp>
          <p:nvSpPr>
            <p:cNvPr name="Freeform 3" id="3"/>
            <p:cNvSpPr/>
            <p:nvPr/>
          </p:nvSpPr>
          <p:spPr>
            <a:xfrm flipH="false" flipV="false" rot="0">
              <a:off x="0" y="0"/>
              <a:ext cx="4816592" cy="335528"/>
            </a:xfrm>
            <a:custGeom>
              <a:avLst/>
              <a:gdLst/>
              <a:ahLst/>
              <a:cxnLst/>
              <a:rect r="r" b="b" t="t" l="l"/>
              <a:pathLst>
                <a:path h="335528" w="4816592">
                  <a:moveTo>
                    <a:pt x="0" y="0"/>
                  </a:moveTo>
                  <a:lnTo>
                    <a:pt x="4816592" y="0"/>
                  </a:lnTo>
                  <a:lnTo>
                    <a:pt x="4816592" y="335528"/>
                  </a:lnTo>
                  <a:lnTo>
                    <a:pt x="0" y="335528"/>
                  </a:lnTo>
                  <a:close/>
                </a:path>
              </a:pathLst>
            </a:custGeom>
            <a:solidFill>
              <a:srgbClr val="97D4E8"/>
            </a:solidFill>
            <a:ln cap="sq">
              <a:noFill/>
              <a:prstDash val="solid"/>
              <a:miter/>
            </a:ln>
          </p:spPr>
        </p:sp>
        <p:sp>
          <p:nvSpPr>
            <p:cNvPr name="TextBox 4" id="4"/>
            <p:cNvSpPr txBox="true"/>
            <p:nvPr/>
          </p:nvSpPr>
          <p:spPr>
            <a:xfrm>
              <a:off x="0" y="-47625"/>
              <a:ext cx="4816593" cy="38315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60088" y="2320902"/>
            <a:ext cx="12556905" cy="6079368"/>
          </a:xfrm>
          <a:custGeom>
            <a:avLst/>
            <a:gdLst/>
            <a:ahLst/>
            <a:cxnLst/>
            <a:rect r="r" b="b" t="t" l="l"/>
            <a:pathLst>
              <a:path h="6079368" w="12556905">
                <a:moveTo>
                  <a:pt x="0" y="0"/>
                </a:moveTo>
                <a:lnTo>
                  <a:pt x="12556906" y="0"/>
                </a:lnTo>
                <a:lnTo>
                  <a:pt x="12556906" y="6079368"/>
                </a:lnTo>
                <a:lnTo>
                  <a:pt x="0" y="6079368"/>
                </a:lnTo>
                <a:lnTo>
                  <a:pt x="0" y="0"/>
                </a:lnTo>
                <a:close/>
              </a:path>
            </a:pathLst>
          </a:custGeom>
          <a:blipFill>
            <a:blip r:embed="rId2"/>
            <a:stretch>
              <a:fillRect l="0" t="0" r="0" b="0"/>
            </a:stretch>
          </a:blipFill>
        </p:spPr>
      </p:sp>
      <p:sp>
        <p:nvSpPr>
          <p:cNvPr name="TextBox 6" id="6"/>
          <p:cNvSpPr txBox="true"/>
          <p:nvPr/>
        </p:nvSpPr>
        <p:spPr>
          <a:xfrm rot="0">
            <a:off x="1820880" y="337154"/>
            <a:ext cx="14509613" cy="876300"/>
          </a:xfrm>
          <a:prstGeom prst="rect">
            <a:avLst/>
          </a:prstGeom>
        </p:spPr>
        <p:txBody>
          <a:bodyPr anchor="t" rtlCol="false" tIns="0" lIns="0" bIns="0" rIns="0">
            <a:spAutoFit/>
          </a:bodyPr>
          <a:lstStyle/>
          <a:p>
            <a:pPr algn="l">
              <a:lnSpc>
                <a:spcPts val="6600"/>
              </a:lnSpc>
            </a:pPr>
            <a:r>
              <a:rPr lang="en-US" sz="6000" b="true">
                <a:solidFill>
                  <a:srgbClr val="000001"/>
                </a:solidFill>
                <a:latin typeface="Klein Heavy"/>
                <a:ea typeface="Klein Heavy"/>
                <a:cs typeface="Klein Heavy"/>
                <a:sym typeface="Klein Heavy"/>
              </a:rPr>
              <a:t>Groundwater vs. Surface Water Area</a:t>
            </a:r>
          </a:p>
        </p:txBody>
      </p:sp>
      <p:sp>
        <p:nvSpPr>
          <p:cNvPr name="TextBox 7" id="7"/>
          <p:cNvSpPr txBox="true"/>
          <p:nvPr/>
        </p:nvSpPr>
        <p:spPr>
          <a:xfrm rot="0">
            <a:off x="12816994" y="1915160"/>
            <a:ext cx="5108219" cy="7880350"/>
          </a:xfrm>
          <a:prstGeom prst="rect">
            <a:avLst/>
          </a:prstGeom>
        </p:spPr>
        <p:txBody>
          <a:bodyPr anchor="t" rtlCol="false" tIns="0" lIns="0" bIns="0" rIns="0">
            <a:spAutoFit/>
          </a:bodyPr>
          <a:lstStyle/>
          <a:p>
            <a:pPr algn="just" marL="539746" indent="-269873" lvl="1">
              <a:lnSpc>
                <a:spcPts val="3499"/>
              </a:lnSpc>
              <a:spcBef>
                <a:spcPct val="0"/>
              </a:spcBef>
              <a:buFont typeface="Arial"/>
              <a:buChar char="•"/>
            </a:pPr>
            <a:r>
              <a:rPr lang="en-US" sz="2499">
                <a:solidFill>
                  <a:srgbClr val="000001"/>
                </a:solidFill>
                <a:latin typeface="Klein"/>
                <a:ea typeface="Klein"/>
                <a:cs typeface="Klein"/>
                <a:sym typeface="Klein"/>
              </a:rPr>
              <a:t>All three datasets (Gr</a:t>
            </a:r>
            <a:r>
              <a:rPr lang="en-US" sz="2499">
                <a:solidFill>
                  <a:srgbClr val="000001"/>
                </a:solidFill>
                <a:latin typeface="Klein"/>
                <a:ea typeface="Klein"/>
                <a:cs typeface="Klein"/>
                <a:sym typeface="Klein"/>
              </a:rPr>
              <a:t>oundwater, River Area, and Reservoir Area) are clearly interconnected. They peak together during the monsoon and hit their lows together in the dry season.</a:t>
            </a:r>
          </a:p>
          <a:p>
            <a:pPr algn="just" marL="539746" indent="-269873" lvl="1">
              <a:lnSpc>
                <a:spcPts val="3499"/>
              </a:lnSpc>
              <a:spcBef>
                <a:spcPct val="0"/>
              </a:spcBef>
              <a:buFont typeface="Arial"/>
              <a:buChar char="•"/>
            </a:pPr>
            <a:r>
              <a:rPr lang="en-US" sz="2499">
                <a:solidFill>
                  <a:srgbClr val="000001"/>
                </a:solidFill>
                <a:latin typeface="Klein"/>
                <a:ea typeface="Klein"/>
                <a:cs typeface="Klein"/>
                <a:sym typeface="Klein"/>
              </a:rPr>
              <a:t>The reservoir area (green line) and the groundwater proxy (blue line) track almost perfectly. This suggests reservoir levels serve as an excellent visual proxy for the health of the entire basin's water storage, including the invisible groundwater.</a:t>
            </a:r>
          </a:p>
          <a:p>
            <a:pPr algn="just">
              <a:lnSpc>
                <a:spcPts val="3499"/>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0" y="-60503"/>
            <a:ext cx="18288000" cy="1543488"/>
            <a:chOff x="0" y="0"/>
            <a:chExt cx="4816593" cy="406515"/>
          </a:xfrm>
        </p:grpSpPr>
        <p:sp>
          <p:nvSpPr>
            <p:cNvPr name="Freeform 3" id="3"/>
            <p:cNvSpPr/>
            <p:nvPr/>
          </p:nvSpPr>
          <p:spPr>
            <a:xfrm flipH="false" flipV="false" rot="0">
              <a:off x="0" y="0"/>
              <a:ext cx="4816592" cy="406515"/>
            </a:xfrm>
            <a:custGeom>
              <a:avLst/>
              <a:gdLst/>
              <a:ahLst/>
              <a:cxnLst/>
              <a:rect r="r" b="b" t="t" l="l"/>
              <a:pathLst>
                <a:path h="406515" w="4816592">
                  <a:moveTo>
                    <a:pt x="0" y="0"/>
                  </a:moveTo>
                  <a:lnTo>
                    <a:pt x="4816592" y="0"/>
                  </a:lnTo>
                  <a:lnTo>
                    <a:pt x="4816592" y="406515"/>
                  </a:lnTo>
                  <a:lnTo>
                    <a:pt x="0" y="406515"/>
                  </a:lnTo>
                  <a:close/>
                </a:path>
              </a:pathLst>
            </a:custGeom>
            <a:solidFill>
              <a:srgbClr val="97D4E8"/>
            </a:solidFill>
            <a:ln cap="sq">
              <a:noFill/>
              <a:prstDash val="solid"/>
              <a:miter/>
            </a:ln>
          </p:spPr>
        </p:sp>
        <p:sp>
          <p:nvSpPr>
            <p:cNvPr name="TextBox 4" id="4"/>
            <p:cNvSpPr txBox="true"/>
            <p:nvPr/>
          </p:nvSpPr>
          <p:spPr>
            <a:xfrm>
              <a:off x="0" y="-47625"/>
              <a:ext cx="4816593" cy="45414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7151665" y="1665997"/>
            <a:ext cx="10107635" cy="8332068"/>
          </a:xfrm>
          <a:custGeom>
            <a:avLst/>
            <a:gdLst/>
            <a:ahLst/>
            <a:cxnLst/>
            <a:rect r="r" b="b" t="t" l="l"/>
            <a:pathLst>
              <a:path h="8332068" w="10107635">
                <a:moveTo>
                  <a:pt x="0" y="0"/>
                </a:moveTo>
                <a:lnTo>
                  <a:pt x="10107635" y="0"/>
                </a:lnTo>
                <a:lnTo>
                  <a:pt x="10107635" y="8332068"/>
                </a:lnTo>
                <a:lnTo>
                  <a:pt x="0" y="8332068"/>
                </a:lnTo>
                <a:lnTo>
                  <a:pt x="0" y="0"/>
                </a:lnTo>
                <a:close/>
              </a:path>
            </a:pathLst>
          </a:custGeom>
          <a:blipFill>
            <a:blip r:embed="rId2"/>
            <a:stretch>
              <a:fillRect l="0" t="0" r="0" b="0"/>
            </a:stretch>
          </a:blipFill>
        </p:spPr>
      </p:sp>
      <p:sp>
        <p:nvSpPr>
          <p:cNvPr name="TextBox 6" id="6"/>
          <p:cNvSpPr txBox="true"/>
          <p:nvPr/>
        </p:nvSpPr>
        <p:spPr>
          <a:xfrm rot="0">
            <a:off x="529381" y="292140"/>
            <a:ext cx="17229238" cy="876300"/>
          </a:xfrm>
          <a:prstGeom prst="rect">
            <a:avLst/>
          </a:prstGeom>
        </p:spPr>
        <p:txBody>
          <a:bodyPr anchor="t" rtlCol="false" tIns="0" lIns="0" bIns="0" rIns="0">
            <a:spAutoFit/>
          </a:bodyPr>
          <a:lstStyle/>
          <a:p>
            <a:pPr algn="l">
              <a:lnSpc>
                <a:spcPts val="6600"/>
              </a:lnSpc>
            </a:pPr>
            <a:r>
              <a:rPr lang="en-US" sz="6000" b="true">
                <a:solidFill>
                  <a:srgbClr val="000001"/>
                </a:solidFill>
                <a:latin typeface="Klein Heavy"/>
                <a:ea typeface="Klein Heavy"/>
                <a:cs typeface="Klein Heavy"/>
                <a:sym typeface="Klein Heavy"/>
              </a:rPr>
              <a:t>Groundwater vs. Surface Water Correlation</a:t>
            </a:r>
          </a:p>
        </p:txBody>
      </p:sp>
      <p:sp>
        <p:nvSpPr>
          <p:cNvPr name="TextBox 7" id="7"/>
          <p:cNvSpPr txBox="true"/>
          <p:nvPr/>
        </p:nvSpPr>
        <p:spPr>
          <a:xfrm rot="0">
            <a:off x="0" y="1679565"/>
            <a:ext cx="7016900" cy="83185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1"/>
                </a:solidFill>
                <a:latin typeface="Klein"/>
                <a:ea typeface="Klein"/>
                <a:cs typeface="Klein"/>
                <a:sym typeface="Klein"/>
              </a:rPr>
              <a:t>In all four scenarios (Monsoon/Dry vs. River/Reservoir), the trend is "up and to the right." This confirms that in any given season, higher groundwater levels are associated with larger river and reservoir areas.</a:t>
            </a:r>
          </a:p>
          <a:p>
            <a:pPr algn="l" marL="539749" indent="-269875" lvl="1">
              <a:lnSpc>
                <a:spcPts val="3499"/>
              </a:lnSpc>
              <a:spcBef>
                <a:spcPct val="0"/>
              </a:spcBef>
              <a:buFont typeface="Arial"/>
              <a:buChar char="•"/>
            </a:pPr>
            <a:r>
              <a:rPr lang="en-US" sz="2499">
                <a:solidFill>
                  <a:srgbClr val="000001"/>
                </a:solidFill>
                <a:latin typeface="Klein"/>
                <a:ea typeface="Klein"/>
                <a:cs typeface="Klein"/>
                <a:sym typeface="Klein"/>
              </a:rPr>
              <a:t>The "Dry Season" plots are the most critical. They show that even in the driest months, years with higher residual groundwater have wider rivers. This is direct evidence of gr</a:t>
            </a:r>
            <a:r>
              <a:rPr lang="en-US" sz="2499">
                <a:solidFill>
                  <a:srgbClr val="000001"/>
                </a:solidFill>
                <a:latin typeface="Klein"/>
                <a:ea typeface="Klein"/>
                <a:cs typeface="Klein"/>
                <a:sym typeface="Klein"/>
              </a:rPr>
              <a:t>oundwater's role in providing baseflow and sustaining the river.</a:t>
            </a:r>
          </a:p>
          <a:p>
            <a:pPr algn="l" marL="539749" indent="-269875" lvl="1">
              <a:lnSpc>
                <a:spcPts val="3499"/>
              </a:lnSpc>
              <a:spcBef>
                <a:spcPct val="0"/>
              </a:spcBef>
              <a:buFont typeface="Arial"/>
              <a:buChar char="•"/>
            </a:pPr>
            <a:r>
              <a:rPr lang="en-US" sz="2499">
                <a:solidFill>
                  <a:srgbClr val="000001"/>
                </a:solidFill>
                <a:latin typeface="Klein"/>
                <a:ea typeface="Klein"/>
                <a:cs typeface="Klein"/>
                <a:sym typeface="Klein"/>
              </a:rPr>
              <a:t>This data directly links groundwater to "river width changes." A year with low groundwater (bottom-left dots) will result in a narrower, more stressed river channel, which has implications for erosion and ecology.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0" y="-60503"/>
            <a:ext cx="18288000" cy="1543488"/>
            <a:chOff x="0" y="0"/>
            <a:chExt cx="4816593" cy="406515"/>
          </a:xfrm>
        </p:grpSpPr>
        <p:sp>
          <p:nvSpPr>
            <p:cNvPr name="Freeform 3" id="3"/>
            <p:cNvSpPr/>
            <p:nvPr/>
          </p:nvSpPr>
          <p:spPr>
            <a:xfrm flipH="false" flipV="false" rot="0">
              <a:off x="0" y="0"/>
              <a:ext cx="4816592" cy="406515"/>
            </a:xfrm>
            <a:custGeom>
              <a:avLst/>
              <a:gdLst/>
              <a:ahLst/>
              <a:cxnLst/>
              <a:rect r="r" b="b" t="t" l="l"/>
              <a:pathLst>
                <a:path h="406515" w="4816592">
                  <a:moveTo>
                    <a:pt x="0" y="0"/>
                  </a:moveTo>
                  <a:lnTo>
                    <a:pt x="4816592" y="0"/>
                  </a:lnTo>
                  <a:lnTo>
                    <a:pt x="4816592" y="406515"/>
                  </a:lnTo>
                  <a:lnTo>
                    <a:pt x="0" y="406515"/>
                  </a:lnTo>
                  <a:close/>
                </a:path>
              </a:pathLst>
            </a:custGeom>
            <a:solidFill>
              <a:srgbClr val="97D4E8"/>
            </a:solidFill>
            <a:ln cap="sq">
              <a:noFill/>
              <a:prstDash val="solid"/>
              <a:miter/>
            </a:ln>
          </p:spPr>
        </p:sp>
        <p:sp>
          <p:nvSpPr>
            <p:cNvPr name="TextBox 4" id="4"/>
            <p:cNvSpPr txBox="true"/>
            <p:nvPr/>
          </p:nvSpPr>
          <p:spPr>
            <a:xfrm>
              <a:off x="0" y="-47625"/>
              <a:ext cx="4816593" cy="45414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0" y="3428477"/>
            <a:ext cx="11664039" cy="4730778"/>
          </a:xfrm>
          <a:custGeom>
            <a:avLst/>
            <a:gdLst/>
            <a:ahLst/>
            <a:cxnLst/>
            <a:rect r="r" b="b" t="t" l="l"/>
            <a:pathLst>
              <a:path h="4730778" w="11664039">
                <a:moveTo>
                  <a:pt x="0" y="0"/>
                </a:moveTo>
                <a:lnTo>
                  <a:pt x="11664039" y="0"/>
                </a:lnTo>
                <a:lnTo>
                  <a:pt x="11664039" y="4730777"/>
                </a:lnTo>
                <a:lnTo>
                  <a:pt x="0" y="4730777"/>
                </a:lnTo>
                <a:lnTo>
                  <a:pt x="0" y="0"/>
                </a:lnTo>
                <a:close/>
              </a:path>
            </a:pathLst>
          </a:custGeom>
          <a:blipFill>
            <a:blip r:embed="rId2"/>
            <a:stretch>
              <a:fillRect l="0" t="0" r="0" b="0"/>
            </a:stretch>
          </a:blipFill>
        </p:spPr>
      </p:sp>
      <p:sp>
        <p:nvSpPr>
          <p:cNvPr name="TextBox 6" id="6"/>
          <p:cNvSpPr txBox="true"/>
          <p:nvPr/>
        </p:nvSpPr>
        <p:spPr>
          <a:xfrm rot="0">
            <a:off x="6402894" y="404537"/>
            <a:ext cx="5482212" cy="876300"/>
          </a:xfrm>
          <a:prstGeom prst="rect">
            <a:avLst/>
          </a:prstGeom>
        </p:spPr>
        <p:txBody>
          <a:bodyPr anchor="t" rtlCol="false" tIns="0" lIns="0" bIns="0" rIns="0">
            <a:spAutoFit/>
          </a:bodyPr>
          <a:lstStyle/>
          <a:p>
            <a:pPr algn="l">
              <a:lnSpc>
                <a:spcPts val="6600"/>
              </a:lnSpc>
            </a:pPr>
            <a:r>
              <a:rPr lang="en-US" sz="6000" b="true">
                <a:solidFill>
                  <a:srgbClr val="000001"/>
                </a:solidFill>
                <a:latin typeface="Klein Heavy"/>
                <a:ea typeface="Klein Heavy"/>
                <a:cs typeface="Klein Heavy"/>
                <a:sym typeface="Klein Heavy"/>
              </a:rPr>
              <a:t>Lagged Effect</a:t>
            </a:r>
          </a:p>
        </p:txBody>
      </p:sp>
      <p:sp>
        <p:nvSpPr>
          <p:cNvPr name="TextBox 7" id="7"/>
          <p:cNvSpPr txBox="true"/>
          <p:nvPr/>
        </p:nvSpPr>
        <p:spPr>
          <a:xfrm rot="0">
            <a:off x="11664039" y="1665318"/>
            <a:ext cx="6447202" cy="8266620"/>
          </a:xfrm>
          <a:prstGeom prst="rect">
            <a:avLst/>
          </a:prstGeom>
        </p:spPr>
        <p:txBody>
          <a:bodyPr anchor="t" rtlCol="false" tIns="0" lIns="0" bIns="0" rIns="0">
            <a:spAutoFit/>
          </a:bodyPr>
          <a:lstStyle/>
          <a:p>
            <a:pPr algn="l" marL="539806" indent="-269903" lvl="1">
              <a:lnSpc>
                <a:spcPts val="2750"/>
              </a:lnSpc>
              <a:spcBef>
                <a:spcPct val="0"/>
              </a:spcBef>
              <a:buFont typeface="Arial"/>
              <a:buChar char="•"/>
            </a:pPr>
            <a:r>
              <a:rPr lang="en-US" sz="2500">
                <a:solidFill>
                  <a:srgbClr val="000001"/>
                </a:solidFill>
                <a:latin typeface="Klein"/>
                <a:ea typeface="Klein"/>
                <a:cs typeface="Klein"/>
                <a:sym typeface="Klein"/>
              </a:rPr>
              <a:t>The strong positive correlations (pearson r = 0.75 for rivers, r = 0.74 for reservoirs) confirm the "hydrological bank" hypothesis. The amount of groundwater "recharged" (deposited) during the monsoon is a strong predictor of river and reservoir size during the following dry season.</a:t>
            </a:r>
          </a:p>
          <a:p>
            <a:pPr algn="l" marL="539806" indent="-269903" lvl="1">
              <a:lnSpc>
                <a:spcPts val="2750"/>
              </a:lnSpc>
              <a:spcBef>
                <a:spcPct val="0"/>
              </a:spcBef>
              <a:buFont typeface="Arial"/>
              <a:buChar char="•"/>
            </a:pPr>
            <a:r>
              <a:rPr lang="en-US" sz="2500">
                <a:solidFill>
                  <a:srgbClr val="000001"/>
                </a:solidFill>
                <a:latin typeface="Klein"/>
                <a:ea typeface="Klein"/>
                <a:cs typeface="Klein"/>
                <a:sym typeface="Klein"/>
              </a:rPr>
              <a:t>This lagged relationship is a key finding. It demonstrates that you can use Monsoon groundwater data to help forecast the severity of the next dry season's water availability and potential stress on river width.</a:t>
            </a:r>
          </a:p>
          <a:p>
            <a:pPr algn="l" marL="539806" indent="-269903" lvl="1">
              <a:lnSpc>
                <a:spcPts val="2750"/>
              </a:lnSpc>
              <a:spcBef>
                <a:spcPct val="0"/>
              </a:spcBef>
              <a:buFont typeface="Arial"/>
              <a:buChar char="•"/>
            </a:pPr>
            <a:r>
              <a:rPr lang="en-US" sz="2500">
                <a:solidFill>
                  <a:srgbClr val="000001"/>
                </a:solidFill>
                <a:latin typeface="Klein"/>
                <a:ea typeface="Klein"/>
                <a:cs typeface="Klein"/>
                <a:sym typeface="Klein"/>
              </a:rPr>
              <a:t>This plot proves that any project that increases groundwater recharge (e.g., check dams, rainwater harvesting) will have a direct, measurable, and positive impact on keeping rivers and reservoirs fuller during the critical dry months.</a:t>
            </a:r>
          </a:p>
          <a:p>
            <a:pPr algn="l">
              <a:lnSpc>
                <a:spcPts val="2750"/>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0" y="-60503"/>
            <a:ext cx="18288000" cy="1543488"/>
            <a:chOff x="0" y="0"/>
            <a:chExt cx="4816593" cy="406515"/>
          </a:xfrm>
        </p:grpSpPr>
        <p:sp>
          <p:nvSpPr>
            <p:cNvPr name="Freeform 3" id="3"/>
            <p:cNvSpPr/>
            <p:nvPr/>
          </p:nvSpPr>
          <p:spPr>
            <a:xfrm flipH="false" flipV="false" rot="0">
              <a:off x="0" y="0"/>
              <a:ext cx="4816592" cy="406515"/>
            </a:xfrm>
            <a:custGeom>
              <a:avLst/>
              <a:gdLst/>
              <a:ahLst/>
              <a:cxnLst/>
              <a:rect r="r" b="b" t="t" l="l"/>
              <a:pathLst>
                <a:path h="406515" w="4816592">
                  <a:moveTo>
                    <a:pt x="0" y="0"/>
                  </a:moveTo>
                  <a:lnTo>
                    <a:pt x="4816592" y="0"/>
                  </a:lnTo>
                  <a:lnTo>
                    <a:pt x="4816592" y="406515"/>
                  </a:lnTo>
                  <a:lnTo>
                    <a:pt x="0" y="406515"/>
                  </a:lnTo>
                  <a:close/>
                </a:path>
              </a:pathLst>
            </a:custGeom>
            <a:solidFill>
              <a:srgbClr val="97D4E8"/>
            </a:solidFill>
            <a:ln cap="sq">
              <a:noFill/>
              <a:prstDash val="solid"/>
              <a:miter/>
            </a:ln>
          </p:spPr>
        </p:sp>
        <p:sp>
          <p:nvSpPr>
            <p:cNvPr name="TextBox 4" id="4"/>
            <p:cNvSpPr txBox="true"/>
            <p:nvPr/>
          </p:nvSpPr>
          <p:spPr>
            <a:xfrm>
              <a:off x="0" y="-47625"/>
              <a:ext cx="4816593" cy="45414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24609" y="1990171"/>
            <a:ext cx="8780804" cy="5902363"/>
          </a:xfrm>
          <a:custGeom>
            <a:avLst/>
            <a:gdLst/>
            <a:ahLst/>
            <a:cxnLst/>
            <a:rect r="r" b="b" t="t" l="l"/>
            <a:pathLst>
              <a:path h="5902363" w="8780804">
                <a:moveTo>
                  <a:pt x="0" y="0"/>
                </a:moveTo>
                <a:lnTo>
                  <a:pt x="8780803" y="0"/>
                </a:lnTo>
                <a:lnTo>
                  <a:pt x="8780803" y="5902363"/>
                </a:lnTo>
                <a:lnTo>
                  <a:pt x="0" y="5902363"/>
                </a:lnTo>
                <a:lnTo>
                  <a:pt x="0" y="0"/>
                </a:lnTo>
                <a:close/>
              </a:path>
            </a:pathLst>
          </a:custGeom>
          <a:blipFill>
            <a:blip r:embed="rId2"/>
            <a:stretch>
              <a:fillRect l="0" t="0" r="0" b="0"/>
            </a:stretch>
          </a:blipFill>
        </p:spPr>
      </p:sp>
      <p:sp>
        <p:nvSpPr>
          <p:cNvPr name="Freeform 6" id="6"/>
          <p:cNvSpPr/>
          <p:nvPr/>
        </p:nvSpPr>
        <p:spPr>
          <a:xfrm flipH="false" flipV="false" rot="0">
            <a:off x="9144000" y="2192319"/>
            <a:ext cx="8995009" cy="5234522"/>
          </a:xfrm>
          <a:custGeom>
            <a:avLst/>
            <a:gdLst/>
            <a:ahLst/>
            <a:cxnLst/>
            <a:rect r="r" b="b" t="t" l="l"/>
            <a:pathLst>
              <a:path h="5234522" w="8995009">
                <a:moveTo>
                  <a:pt x="0" y="0"/>
                </a:moveTo>
                <a:lnTo>
                  <a:pt x="8995009" y="0"/>
                </a:lnTo>
                <a:lnTo>
                  <a:pt x="8995009" y="5234522"/>
                </a:lnTo>
                <a:lnTo>
                  <a:pt x="0" y="5234522"/>
                </a:lnTo>
                <a:lnTo>
                  <a:pt x="0" y="0"/>
                </a:lnTo>
                <a:close/>
              </a:path>
            </a:pathLst>
          </a:custGeom>
          <a:blipFill>
            <a:blip r:embed="rId3"/>
            <a:stretch>
              <a:fillRect l="-215" t="0" r="-215" b="0"/>
            </a:stretch>
          </a:blipFill>
        </p:spPr>
      </p:sp>
      <p:sp>
        <p:nvSpPr>
          <p:cNvPr name="TextBox 7" id="7"/>
          <p:cNvSpPr txBox="true"/>
          <p:nvPr/>
        </p:nvSpPr>
        <p:spPr>
          <a:xfrm rot="0">
            <a:off x="6402894" y="292140"/>
            <a:ext cx="5482212" cy="876300"/>
          </a:xfrm>
          <a:prstGeom prst="rect">
            <a:avLst/>
          </a:prstGeom>
        </p:spPr>
        <p:txBody>
          <a:bodyPr anchor="t" rtlCol="false" tIns="0" lIns="0" bIns="0" rIns="0">
            <a:spAutoFit/>
          </a:bodyPr>
          <a:lstStyle/>
          <a:p>
            <a:pPr algn="l">
              <a:lnSpc>
                <a:spcPts val="6600"/>
              </a:lnSpc>
            </a:pPr>
            <a:r>
              <a:rPr lang="en-US" sz="6000" b="true">
                <a:solidFill>
                  <a:srgbClr val="000001"/>
                </a:solidFill>
                <a:latin typeface="Klein Heavy"/>
                <a:ea typeface="Klein Heavy"/>
                <a:cs typeface="Klein Heavy"/>
                <a:sym typeface="Klein Heavy"/>
              </a:rPr>
              <a:t>LULC Changes</a:t>
            </a:r>
          </a:p>
        </p:txBody>
      </p:sp>
      <p:sp>
        <p:nvSpPr>
          <p:cNvPr name="TextBox 8" id="8"/>
          <p:cNvSpPr txBox="true"/>
          <p:nvPr/>
        </p:nvSpPr>
        <p:spPr>
          <a:xfrm rot="0">
            <a:off x="1909172" y="7864475"/>
            <a:ext cx="14855989" cy="2422525"/>
          </a:xfrm>
          <a:prstGeom prst="rect">
            <a:avLst/>
          </a:prstGeom>
        </p:spPr>
        <p:txBody>
          <a:bodyPr anchor="t" rtlCol="false" tIns="0" lIns="0" bIns="0" rIns="0">
            <a:spAutoFit/>
          </a:bodyPr>
          <a:lstStyle/>
          <a:p>
            <a:pPr algn="l" marL="539753" indent="-269876" lvl="1">
              <a:lnSpc>
                <a:spcPts val="2750"/>
              </a:lnSpc>
              <a:buFont typeface="Arial"/>
              <a:buChar char="•"/>
            </a:pPr>
            <a:r>
              <a:rPr lang="en-US" sz="2500">
                <a:solidFill>
                  <a:srgbClr val="000001"/>
                </a:solidFill>
                <a:latin typeface="Klein"/>
                <a:ea typeface="Klein"/>
                <a:cs typeface="Klein"/>
                <a:sym typeface="Klein"/>
              </a:rPr>
              <a:t>The d</a:t>
            </a:r>
            <a:r>
              <a:rPr lang="en-US" sz="2500">
                <a:solidFill>
                  <a:srgbClr val="000001"/>
                </a:solidFill>
                <a:latin typeface="Klein"/>
                <a:ea typeface="Klein"/>
                <a:cs typeface="Klein"/>
                <a:sym typeface="Klein"/>
              </a:rPr>
              <a:t>ominant trend was a significant +4.93 percentage point (p.p.) increase in Agriculture.</a:t>
            </a:r>
          </a:p>
          <a:p>
            <a:pPr algn="l" marL="539753" indent="-269876" lvl="1">
              <a:lnSpc>
                <a:spcPts val="2750"/>
              </a:lnSpc>
              <a:buFont typeface="Arial"/>
              <a:buChar char="•"/>
            </a:pPr>
            <a:r>
              <a:rPr lang="en-US" sz="2500">
                <a:solidFill>
                  <a:srgbClr val="000001"/>
                </a:solidFill>
                <a:latin typeface="Klein"/>
                <a:ea typeface="Klein"/>
                <a:cs typeface="Klein"/>
                <a:sym typeface="Klein"/>
              </a:rPr>
              <a:t>This agricultural expansion corresponds directly with a -4.02 p.p. decrease in Wasteland/Barren land, indicating large scale land conversion.</a:t>
            </a:r>
          </a:p>
          <a:p>
            <a:pPr algn="l" marL="539753" indent="-269876" lvl="1">
              <a:lnSpc>
                <a:spcPts val="2750"/>
              </a:lnSpc>
              <a:buFont typeface="Arial"/>
              <a:buChar char="•"/>
            </a:pPr>
            <a:r>
              <a:rPr lang="en-US" sz="2500">
                <a:solidFill>
                  <a:srgbClr val="000001"/>
                </a:solidFill>
                <a:latin typeface="Klein"/>
                <a:ea typeface="Klein"/>
                <a:cs typeface="Klein"/>
                <a:sym typeface="Klein"/>
              </a:rPr>
              <a:t>Agriculture is the primary land use in the buffer (ending at ~68% in 2023), with Vegetation (~17%), Wasteland (~10%), and Built-Up (&lt;3%) remaining relatively stable in their total share.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0" y="-60503"/>
            <a:ext cx="18288000" cy="1543488"/>
            <a:chOff x="0" y="0"/>
            <a:chExt cx="4816593" cy="406515"/>
          </a:xfrm>
        </p:grpSpPr>
        <p:sp>
          <p:nvSpPr>
            <p:cNvPr name="Freeform 3" id="3"/>
            <p:cNvSpPr/>
            <p:nvPr/>
          </p:nvSpPr>
          <p:spPr>
            <a:xfrm flipH="false" flipV="false" rot="0">
              <a:off x="0" y="0"/>
              <a:ext cx="4816592" cy="406515"/>
            </a:xfrm>
            <a:custGeom>
              <a:avLst/>
              <a:gdLst/>
              <a:ahLst/>
              <a:cxnLst/>
              <a:rect r="r" b="b" t="t" l="l"/>
              <a:pathLst>
                <a:path h="406515" w="4816592">
                  <a:moveTo>
                    <a:pt x="0" y="0"/>
                  </a:moveTo>
                  <a:lnTo>
                    <a:pt x="4816592" y="0"/>
                  </a:lnTo>
                  <a:lnTo>
                    <a:pt x="4816592" y="406515"/>
                  </a:lnTo>
                  <a:lnTo>
                    <a:pt x="0" y="406515"/>
                  </a:lnTo>
                  <a:close/>
                </a:path>
              </a:pathLst>
            </a:custGeom>
            <a:solidFill>
              <a:srgbClr val="97D4E8"/>
            </a:solidFill>
            <a:ln cap="sq">
              <a:noFill/>
              <a:prstDash val="solid"/>
              <a:miter/>
            </a:ln>
          </p:spPr>
        </p:sp>
        <p:sp>
          <p:nvSpPr>
            <p:cNvPr name="TextBox 4" id="4"/>
            <p:cNvSpPr txBox="true"/>
            <p:nvPr/>
          </p:nvSpPr>
          <p:spPr>
            <a:xfrm>
              <a:off x="0" y="-47625"/>
              <a:ext cx="4816593" cy="45414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28700" y="2101212"/>
            <a:ext cx="8115300" cy="5226253"/>
          </a:xfrm>
          <a:custGeom>
            <a:avLst/>
            <a:gdLst/>
            <a:ahLst/>
            <a:cxnLst/>
            <a:rect r="r" b="b" t="t" l="l"/>
            <a:pathLst>
              <a:path h="5226253" w="8115300">
                <a:moveTo>
                  <a:pt x="0" y="0"/>
                </a:moveTo>
                <a:lnTo>
                  <a:pt x="8115300" y="0"/>
                </a:lnTo>
                <a:lnTo>
                  <a:pt x="8115300" y="5226254"/>
                </a:lnTo>
                <a:lnTo>
                  <a:pt x="0" y="5226254"/>
                </a:lnTo>
                <a:lnTo>
                  <a:pt x="0" y="0"/>
                </a:lnTo>
                <a:close/>
              </a:path>
            </a:pathLst>
          </a:custGeom>
          <a:blipFill>
            <a:blip r:embed="rId2"/>
            <a:stretch>
              <a:fillRect l="0" t="0" r="0" b="0"/>
            </a:stretch>
          </a:blipFill>
        </p:spPr>
      </p:sp>
      <p:sp>
        <p:nvSpPr>
          <p:cNvPr name="TextBox 6" id="6"/>
          <p:cNvSpPr txBox="true"/>
          <p:nvPr/>
        </p:nvSpPr>
        <p:spPr>
          <a:xfrm rot="0">
            <a:off x="3213453" y="292140"/>
            <a:ext cx="13141363" cy="876300"/>
          </a:xfrm>
          <a:prstGeom prst="rect">
            <a:avLst/>
          </a:prstGeom>
        </p:spPr>
        <p:txBody>
          <a:bodyPr anchor="t" rtlCol="false" tIns="0" lIns="0" bIns="0" rIns="0">
            <a:spAutoFit/>
          </a:bodyPr>
          <a:lstStyle/>
          <a:p>
            <a:pPr algn="l">
              <a:lnSpc>
                <a:spcPts val="6600"/>
              </a:lnSpc>
            </a:pPr>
            <a:r>
              <a:rPr lang="en-US" sz="6000" b="true">
                <a:solidFill>
                  <a:srgbClr val="000001"/>
                </a:solidFill>
                <a:latin typeface="Klein Heavy"/>
                <a:ea typeface="Klein Heavy"/>
                <a:cs typeface="Klein Heavy"/>
                <a:sym typeface="Klein Heavy"/>
              </a:rPr>
              <a:t>LULC vs. Hydrological Variability</a:t>
            </a:r>
          </a:p>
        </p:txBody>
      </p:sp>
      <p:sp>
        <p:nvSpPr>
          <p:cNvPr name="Freeform 7" id="7"/>
          <p:cNvSpPr/>
          <p:nvPr/>
        </p:nvSpPr>
        <p:spPr>
          <a:xfrm flipH="false" flipV="false" rot="0">
            <a:off x="9144000" y="2101212"/>
            <a:ext cx="8115300" cy="5226253"/>
          </a:xfrm>
          <a:custGeom>
            <a:avLst/>
            <a:gdLst/>
            <a:ahLst/>
            <a:cxnLst/>
            <a:rect r="r" b="b" t="t" l="l"/>
            <a:pathLst>
              <a:path h="5226253" w="8115300">
                <a:moveTo>
                  <a:pt x="0" y="0"/>
                </a:moveTo>
                <a:lnTo>
                  <a:pt x="8115300" y="0"/>
                </a:lnTo>
                <a:lnTo>
                  <a:pt x="8115300" y="5226254"/>
                </a:lnTo>
                <a:lnTo>
                  <a:pt x="0" y="5226254"/>
                </a:lnTo>
                <a:lnTo>
                  <a:pt x="0" y="0"/>
                </a:lnTo>
                <a:close/>
              </a:path>
            </a:pathLst>
          </a:custGeom>
          <a:blipFill>
            <a:blip r:embed="rId3"/>
            <a:stretch>
              <a:fillRect l="0" t="0" r="0" b="0"/>
            </a:stretch>
          </a:blipFill>
        </p:spPr>
      </p:sp>
      <p:sp>
        <p:nvSpPr>
          <p:cNvPr name="TextBox 8" id="8"/>
          <p:cNvSpPr txBox="true"/>
          <p:nvPr/>
        </p:nvSpPr>
        <p:spPr>
          <a:xfrm rot="0">
            <a:off x="1786144" y="7521575"/>
            <a:ext cx="14715712" cy="2765425"/>
          </a:xfrm>
          <a:prstGeom prst="rect">
            <a:avLst/>
          </a:prstGeom>
        </p:spPr>
        <p:txBody>
          <a:bodyPr anchor="t" rtlCol="false" tIns="0" lIns="0" bIns="0" rIns="0">
            <a:spAutoFit/>
          </a:bodyPr>
          <a:lstStyle/>
          <a:p>
            <a:pPr algn="l" marL="539749" indent="-269875" lvl="1">
              <a:lnSpc>
                <a:spcPts val="2749"/>
              </a:lnSpc>
              <a:spcBef>
                <a:spcPct val="0"/>
              </a:spcBef>
              <a:buFont typeface="Arial"/>
              <a:buChar char="•"/>
            </a:pPr>
            <a:r>
              <a:rPr lang="en-US" sz="2499">
                <a:solidFill>
                  <a:srgbClr val="000001"/>
                </a:solidFill>
                <a:latin typeface="Klein"/>
                <a:ea typeface="Klein"/>
                <a:cs typeface="Klein"/>
                <a:sym typeface="Klein"/>
              </a:rPr>
              <a:t>Both the River (purple) and Reservoir (blue) sh</a:t>
            </a:r>
            <a:r>
              <a:rPr lang="en-US" sz="2499">
                <a:solidFill>
                  <a:srgbClr val="000001"/>
                </a:solidFill>
                <a:latin typeface="Klein"/>
                <a:ea typeface="Klein"/>
                <a:cs typeface="Klein"/>
                <a:sym typeface="Klein"/>
              </a:rPr>
              <a:t>ow extreme annual fluctuations, likely driven by variable monsoon rainfall.</a:t>
            </a:r>
          </a:p>
          <a:p>
            <a:pPr algn="l" marL="539749" indent="-269875" lvl="1">
              <a:lnSpc>
                <a:spcPts val="2749"/>
              </a:lnSpc>
              <a:spcBef>
                <a:spcPct val="0"/>
              </a:spcBef>
              <a:buFont typeface="Arial"/>
              <a:buChar char="•"/>
            </a:pPr>
            <a:r>
              <a:rPr lang="en-US" sz="2499">
                <a:solidFill>
                  <a:srgbClr val="000001"/>
                </a:solidFill>
                <a:latin typeface="Klein"/>
                <a:ea typeface="Klein"/>
                <a:cs typeface="Klein"/>
                <a:sym typeface="Klein"/>
              </a:rPr>
              <a:t>In sharp contrast, LULC changes are slow and linear. Agriculture (orange) steadily increases while Wasteland (grey) steadily decreases every year.</a:t>
            </a:r>
          </a:p>
          <a:p>
            <a:pPr algn="l" marL="539749" indent="-269875" lvl="1">
              <a:lnSpc>
                <a:spcPts val="2749"/>
              </a:lnSpc>
              <a:spcBef>
                <a:spcPct val="0"/>
              </a:spcBef>
              <a:buFont typeface="Arial"/>
              <a:buChar char="•"/>
            </a:pPr>
            <a:r>
              <a:rPr lang="en-US" sz="2499">
                <a:solidFill>
                  <a:srgbClr val="000001"/>
                </a:solidFill>
                <a:latin typeface="Klein"/>
                <a:ea typeface="Klein"/>
                <a:cs typeface="Klein"/>
                <a:sym typeface="Klein"/>
              </a:rPr>
              <a:t>This divergence shows that long term, planned human activity (agricultural expansion) is the primary driver of landscape change, not a short term reaction to how much water is available in any single year.</a:t>
            </a:r>
          </a:p>
          <a:p>
            <a:pPr algn="l">
              <a:lnSpc>
                <a:spcPts val="2749"/>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FB59C"/>
        </a:solidFill>
      </p:bgPr>
    </p:bg>
    <p:spTree>
      <p:nvGrpSpPr>
        <p:cNvPr id="1" name=""/>
        <p:cNvGrpSpPr/>
        <p:nvPr/>
      </p:nvGrpSpPr>
      <p:grpSpPr>
        <a:xfrm>
          <a:off x="0" y="0"/>
          <a:ext cx="0" cy="0"/>
          <a:chOff x="0" y="0"/>
          <a:chExt cx="0" cy="0"/>
        </a:xfrm>
      </p:grpSpPr>
      <p:grpSp>
        <p:nvGrpSpPr>
          <p:cNvPr name="Group 2" id="2"/>
          <p:cNvGrpSpPr/>
          <p:nvPr/>
        </p:nvGrpSpPr>
        <p:grpSpPr>
          <a:xfrm rot="0">
            <a:off x="0" y="-60503"/>
            <a:ext cx="18288000" cy="1543488"/>
            <a:chOff x="0" y="0"/>
            <a:chExt cx="4816593" cy="406515"/>
          </a:xfrm>
        </p:grpSpPr>
        <p:sp>
          <p:nvSpPr>
            <p:cNvPr name="Freeform 3" id="3"/>
            <p:cNvSpPr/>
            <p:nvPr/>
          </p:nvSpPr>
          <p:spPr>
            <a:xfrm flipH="false" flipV="false" rot="0">
              <a:off x="0" y="0"/>
              <a:ext cx="4816592" cy="406515"/>
            </a:xfrm>
            <a:custGeom>
              <a:avLst/>
              <a:gdLst/>
              <a:ahLst/>
              <a:cxnLst/>
              <a:rect r="r" b="b" t="t" l="l"/>
              <a:pathLst>
                <a:path h="406515" w="4816592">
                  <a:moveTo>
                    <a:pt x="0" y="0"/>
                  </a:moveTo>
                  <a:lnTo>
                    <a:pt x="4816592" y="0"/>
                  </a:lnTo>
                  <a:lnTo>
                    <a:pt x="4816592" y="406515"/>
                  </a:lnTo>
                  <a:lnTo>
                    <a:pt x="0" y="406515"/>
                  </a:lnTo>
                  <a:close/>
                </a:path>
              </a:pathLst>
            </a:custGeom>
            <a:solidFill>
              <a:srgbClr val="97D4E8"/>
            </a:solidFill>
            <a:ln cap="sq">
              <a:noFill/>
              <a:prstDash val="solid"/>
              <a:miter/>
            </a:ln>
          </p:spPr>
        </p:sp>
        <p:sp>
          <p:nvSpPr>
            <p:cNvPr name="TextBox 4" id="4"/>
            <p:cNvSpPr txBox="true"/>
            <p:nvPr/>
          </p:nvSpPr>
          <p:spPr>
            <a:xfrm>
              <a:off x="0" y="-47625"/>
              <a:ext cx="4816593" cy="45414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912801" y="1482984"/>
            <a:ext cx="12192868" cy="5555010"/>
          </a:xfrm>
          <a:custGeom>
            <a:avLst/>
            <a:gdLst/>
            <a:ahLst/>
            <a:cxnLst/>
            <a:rect r="r" b="b" t="t" l="l"/>
            <a:pathLst>
              <a:path h="5555010" w="12192868">
                <a:moveTo>
                  <a:pt x="0" y="0"/>
                </a:moveTo>
                <a:lnTo>
                  <a:pt x="12192868" y="0"/>
                </a:lnTo>
                <a:lnTo>
                  <a:pt x="12192868" y="5555010"/>
                </a:lnTo>
                <a:lnTo>
                  <a:pt x="0" y="5555010"/>
                </a:lnTo>
                <a:lnTo>
                  <a:pt x="0" y="0"/>
                </a:lnTo>
                <a:close/>
              </a:path>
            </a:pathLst>
          </a:custGeom>
          <a:blipFill>
            <a:blip r:embed="rId2"/>
            <a:stretch>
              <a:fillRect l="0" t="0" r="0" b="0"/>
            </a:stretch>
          </a:blipFill>
        </p:spPr>
      </p:sp>
      <p:sp>
        <p:nvSpPr>
          <p:cNvPr name="TextBox 6" id="6"/>
          <p:cNvSpPr txBox="true"/>
          <p:nvPr/>
        </p:nvSpPr>
        <p:spPr>
          <a:xfrm rot="0">
            <a:off x="1984157" y="292140"/>
            <a:ext cx="15275143" cy="876300"/>
          </a:xfrm>
          <a:prstGeom prst="rect">
            <a:avLst/>
          </a:prstGeom>
        </p:spPr>
        <p:txBody>
          <a:bodyPr anchor="t" rtlCol="false" tIns="0" lIns="0" bIns="0" rIns="0">
            <a:spAutoFit/>
          </a:bodyPr>
          <a:lstStyle/>
          <a:p>
            <a:pPr algn="l">
              <a:lnSpc>
                <a:spcPts val="6600"/>
              </a:lnSpc>
            </a:pPr>
            <a:r>
              <a:rPr lang="en-US" sz="6000" b="true">
                <a:solidFill>
                  <a:srgbClr val="000001"/>
                </a:solidFill>
                <a:latin typeface="Klein Heavy"/>
                <a:ea typeface="Klein Heavy"/>
                <a:cs typeface="Klein Heavy"/>
                <a:sym typeface="Klein Heavy"/>
              </a:rPr>
              <a:t>LULC Correlation with Water Body Size</a:t>
            </a:r>
          </a:p>
        </p:txBody>
      </p:sp>
      <p:sp>
        <p:nvSpPr>
          <p:cNvPr name="TextBox 7" id="7"/>
          <p:cNvSpPr txBox="true"/>
          <p:nvPr/>
        </p:nvSpPr>
        <p:spPr>
          <a:xfrm rot="0">
            <a:off x="649115" y="7247544"/>
            <a:ext cx="16989770" cy="2422525"/>
          </a:xfrm>
          <a:prstGeom prst="rect">
            <a:avLst/>
          </a:prstGeom>
        </p:spPr>
        <p:txBody>
          <a:bodyPr anchor="t" rtlCol="false" tIns="0" lIns="0" bIns="0" rIns="0">
            <a:spAutoFit/>
          </a:bodyPr>
          <a:lstStyle/>
          <a:p>
            <a:pPr algn="l" marL="539749" indent="-269875" lvl="1">
              <a:lnSpc>
                <a:spcPts val="2749"/>
              </a:lnSpc>
              <a:spcBef>
                <a:spcPct val="0"/>
              </a:spcBef>
              <a:buFont typeface="Arial"/>
              <a:buChar char="•"/>
            </a:pPr>
            <a:r>
              <a:rPr lang="en-US" sz="2499">
                <a:solidFill>
                  <a:srgbClr val="000001"/>
                </a:solidFill>
                <a:latin typeface="Klein"/>
                <a:ea typeface="Klein"/>
                <a:cs typeface="Klein"/>
                <a:sym typeface="Klein"/>
              </a:rPr>
              <a:t>These scatter plots confirm the time-series analysis. There is no strong, direct correlation between the size of the water body (x-axis) and the percentage of LULC classes (y-axis) in any given year.</a:t>
            </a:r>
          </a:p>
          <a:p>
            <a:pPr algn="l" marL="539749" indent="-269875" lvl="1">
              <a:lnSpc>
                <a:spcPts val="2749"/>
              </a:lnSpc>
              <a:spcBef>
                <a:spcPct val="0"/>
              </a:spcBef>
              <a:buFont typeface="Arial"/>
              <a:buChar char="•"/>
            </a:pPr>
            <a:r>
              <a:rPr lang="en-US" sz="2499">
                <a:solidFill>
                  <a:srgbClr val="000001"/>
                </a:solidFill>
                <a:latin typeface="Klein"/>
                <a:ea typeface="Klein"/>
                <a:cs typeface="Klein"/>
                <a:sym typeface="Klein"/>
              </a:rPr>
              <a:t>LULC classes remain clustered in stable percentage bands. For example, Agriculture (orange dots) stays between ~58-64%, regardless of whether the river/reservoir area is at its minimum or maximum.</a:t>
            </a:r>
          </a:p>
          <a:p>
            <a:pPr algn="l" marL="539749" indent="-269875" lvl="1">
              <a:lnSpc>
                <a:spcPts val="2749"/>
              </a:lnSpc>
              <a:spcBef>
                <a:spcPct val="0"/>
              </a:spcBef>
              <a:buFont typeface="Arial"/>
              <a:buChar char="•"/>
            </a:pPr>
            <a:r>
              <a:rPr lang="en-US" sz="2499">
                <a:solidFill>
                  <a:srgbClr val="000001"/>
                </a:solidFill>
                <a:latin typeface="Klein"/>
                <a:ea typeface="Klein"/>
                <a:cs typeface="Klein"/>
                <a:sym typeface="Klein"/>
              </a:rPr>
              <a:t>Conclusion: This reinforces that LULC change is a long-term driver (e.g., agricultural policy, development) and not a short-term effect that reacts to water availability.</a:t>
            </a:r>
          </a:p>
          <a:p>
            <a:pPr algn="l">
              <a:lnSpc>
                <a:spcPts val="274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847336" y="4269333"/>
          <a:ext cx="10593327" cy="5511786"/>
        </p:xfrm>
        <a:graphic>
          <a:graphicData uri="http://schemas.openxmlformats.org/drawingml/2006/table">
            <a:tbl>
              <a:tblPr/>
              <a:tblGrid>
                <a:gridCol w="3531109"/>
                <a:gridCol w="3531109"/>
                <a:gridCol w="3531109"/>
              </a:tblGrid>
              <a:tr h="1844670">
                <a:tc>
                  <a:txBody>
                    <a:bodyPr anchor="t" rtlCol="false"/>
                    <a:lstStyle/>
                    <a:p>
                      <a:pPr algn="ctr">
                        <a:lnSpc>
                          <a:spcPts val="4200"/>
                        </a:lnSpc>
                        <a:defRPr/>
                      </a:pPr>
                      <a:r>
                        <a:rPr lang="en-US" sz="3000" b="true">
                          <a:solidFill>
                            <a:srgbClr val="000000"/>
                          </a:solidFill>
                          <a:latin typeface="Klein Bold"/>
                          <a:ea typeface="Klein Bold"/>
                          <a:cs typeface="Klein Bold"/>
                          <a:sym typeface="Klein Bold"/>
                        </a:rPr>
                        <a:t>Season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Klein Bold"/>
                          <a:ea typeface="Klein Bold"/>
                          <a:cs typeface="Klein Bold"/>
                          <a:sym typeface="Klein Bold"/>
                        </a:rPr>
                        <a:t>River width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4200"/>
                        </a:lnSpc>
                        <a:defRPr/>
                      </a:pPr>
                      <a:r>
                        <a:rPr lang="en-US" sz="3000" b="true">
                          <a:solidFill>
                            <a:srgbClr val="000000"/>
                          </a:solidFill>
                          <a:latin typeface="Arimo Bold"/>
                          <a:ea typeface="Arimo Bold"/>
                          <a:cs typeface="Arimo Bold"/>
                          <a:sym typeface="Arimo Bold"/>
                        </a:rPr>
                        <a:t>Reservoir Area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2372">
                <a:tc>
                  <a:txBody>
                    <a:bodyPr anchor="t" rtlCol="false"/>
                    <a:lstStyle/>
                    <a:p>
                      <a:pPr algn="ctr">
                        <a:lnSpc>
                          <a:spcPts val="4200"/>
                        </a:lnSpc>
                        <a:defRPr/>
                      </a:pPr>
                      <a:r>
                        <a:rPr lang="en-US" sz="3000">
                          <a:solidFill>
                            <a:srgbClr val="000000"/>
                          </a:solidFill>
                          <a:latin typeface="Klein"/>
                          <a:ea typeface="Klein"/>
                          <a:cs typeface="Klein"/>
                          <a:sym typeface="Klein"/>
                        </a:rPr>
                        <a:t>Monsoon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Klein"/>
                          <a:ea typeface="Klein"/>
                          <a:cs typeface="Klein"/>
                          <a:sym typeface="Klein"/>
                        </a:rPr>
                        <a:t>-0.635335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Klein"/>
                          <a:ea typeface="Klein"/>
                          <a:cs typeface="Klein"/>
                          <a:sym typeface="Klein"/>
                        </a:rPr>
                        <a:t>-0.063026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2372">
                <a:tc>
                  <a:txBody>
                    <a:bodyPr anchor="t" rtlCol="false"/>
                    <a:lstStyle/>
                    <a:p>
                      <a:pPr algn="ctr">
                        <a:lnSpc>
                          <a:spcPts val="4200"/>
                        </a:lnSpc>
                        <a:defRPr/>
                      </a:pPr>
                      <a:r>
                        <a:rPr lang="en-US" sz="3000">
                          <a:solidFill>
                            <a:srgbClr val="000000"/>
                          </a:solidFill>
                          <a:latin typeface="Klein"/>
                          <a:ea typeface="Klein"/>
                          <a:cs typeface="Klein"/>
                          <a:sym typeface="Klein"/>
                        </a:rPr>
                        <a:t>Summer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Klein"/>
                          <a:ea typeface="Klein"/>
                          <a:cs typeface="Klein"/>
                          <a:sym typeface="Klein"/>
                        </a:rPr>
                        <a:t>0.181305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Klein"/>
                          <a:ea typeface="Klein"/>
                          <a:cs typeface="Klein"/>
                          <a:sym typeface="Klein"/>
                        </a:rPr>
                        <a:t>0.031049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22372">
                <a:tc>
                  <a:txBody>
                    <a:bodyPr anchor="t" rtlCol="false"/>
                    <a:lstStyle/>
                    <a:p>
                      <a:pPr algn="ctr">
                        <a:lnSpc>
                          <a:spcPts val="4200"/>
                        </a:lnSpc>
                        <a:defRPr/>
                      </a:pPr>
                      <a:r>
                        <a:rPr lang="en-US" sz="3000">
                          <a:solidFill>
                            <a:srgbClr val="000000"/>
                          </a:solidFill>
                          <a:latin typeface="Klein"/>
                          <a:ea typeface="Klein"/>
                          <a:cs typeface="Klein"/>
                          <a:sym typeface="Klein"/>
                        </a:rPr>
                        <a:t>Winter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Klein"/>
                          <a:ea typeface="Klein"/>
                          <a:cs typeface="Klein"/>
                          <a:sym typeface="Klein"/>
                        </a:rPr>
                        <a:t>0.173176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Klein"/>
                          <a:ea typeface="Klein"/>
                          <a:cs typeface="Klein"/>
                          <a:sym typeface="Klein"/>
                        </a:rPr>
                        <a:t>0.84044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422304" y="855049"/>
            <a:ext cx="17226218" cy="1072410"/>
          </a:xfrm>
          <a:prstGeom prst="rect">
            <a:avLst/>
          </a:prstGeom>
        </p:spPr>
        <p:txBody>
          <a:bodyPr anchor="t" rtlCol="false" tIns="0" lIns="0" bIns="0" rIns="0">
            <a:spAutoFit/>
          </a:bodyPr>
          <a:lstStyle/>
          <a:p>
            <a:pPr algn="l">
              <a:lnSpc>
                <a:spcPts val="8430"/>
              </a:lnSpc>
              <a:spcBef>
                <a:spcPct val="0"/>
              </a:spcBef>
            </a:pPr>
            <a:r>
              <a:rPr lang="en-US" b="true" sz="6484" spc="129">
                <a:solidFill>
                  <a:srgbClr val="000000"/>
                </a:solidFill>
                <a:latin typeface="Klein Bold"/>
                <a:ea typeface="Klein Bold"/>
                <a:cs typeface="Klein Bold"/>
                <a:sym typeface="Klein Bold"/>
              </a:rPr>
              <a:t>Variation with respect to rainfall trends</a:t>
            </a:r>
          </a:p>
        </p:txBody>
      </p:sp>
      <p:sp>
        <p:nvSpPr>
          <p:cNvPr name="TextBox 4" id="4"/>
          <p:cNvSpPr txBox="true"/>
          <p:nvPr/>
        </p:nvSpPr>
        <p:spPr>
          <a:xfrm rot="0">
            <a:off x="3381189" y="2933091"/>
            <a:ext cx="9294912" cy="1541526"/>
          </a:xfrm>
          <a:prstGeom prst="rect">
            <a:avLst/>
          </a:prstGeom>
        </p:spPr>
        <p:txBody>
          <a:bodyPr anchor="t" rtlCol="false" tIns="0" lIns="0" bIns="0" rIns="0">
            <a:spAutoFit/>
          </a:bodyPr>
          <a:lstStyle/>
          <a:p>
            <a:pPr algn="l">
              <a:lnSpc>
                <a:spcPts val="4056"/>
              </a:lnSpc>
            </a:pPr>
            <a:r>
              <a:rPr lang="en-US" sz="3120" spc="62">
                <a:solidFill>
                  <a:srgbClr val="000000"/>
                </a:solidFill>
                <a:latin typeface="Klein"/>
                <a:ea typeface="Klein"/>
                <a:cs typeface="Klein"/>
                <a:sym typeface="Klein"/>
              </a:rPr>
              <a:t>                   Season-wise Pearson Correlations </a:t>
            </a:r>
          </a:p>
          <a:p>
            <a:pPr algn="l">
              <a:lnSpc>
                <a:spcPts val="4056"/>
              </a:lnSpc>
            </a:pPr>
          </a:p>
          <a:p>
            <a:pPr algn="l">
              <a:lnSpc>
                <a:spcPts val="4056"/>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452394" y="5579078"/>
            <a:ext cx="5439869" cy="4079902"/>
          </a:xfrm>
          <a:custGeom>
            <a:avLst/>
            <a:gdLst/>
            <a:ahLst/>
            <a:cxnLst/>
            <a:rect r="r" b="b" t="t" l="l"/>
            <a:pathLst>
              <a:path h="4079902" w="5439869">
                <a:moveTo>
                  <a:pt x="0" y="0"/>
                </a:moveTo>
                <a:lnTo>
                  <a:pt x="5439869" y="0"/>
                </a:lnTo>
                <a:lnTo>
                  <a:pt x="5439869" y="4079902"/>
                </a:lnTo>
                <a:lnTo>
                  <a:pt x="0" y="4079902"/>
                </a:lnTo>
                <a:lnTo>
                  <a:pt x="0" y="0"/>
                </a:lnTo>
                <a:close/>
              </a:path>
            </a:pathLst>
          </a:custGeom>
          <a:blipFill>
            <a:blip r:embed="rId2"/>
            <a:stretch>
              <a:fillRect l="0" t="0" r="0" b="0"/>
            </a:stretch>
          </a:blipFill>
        </p:spPr>
      </p:sp>
      <p:sp>
        <p:nvSpPr>
          <p:cNvPr name="Freeform 3" id="3"/>
          <p:cNvSpPr/>
          <p:nvPr/>
        </p:nvSpPr>
        <p:spPr>
          <a:xfrm flipH="false" flipV="false" rot="0">
            <a:off x="6531256" y="5579078"/>
            <a:ext cx="5439869" cy="4079902"/>
          </a:xfrm>
          <a:custGeom>
            <a:avLst/>
            <a:gdLst/>
            <a:ahLst/>
            <a:cxnLst/>
            <a:rect r="r" b="b" t="t" l="l"/>
            <a:pathLst>
              <a:path h="4079902" w="5439869">
                <a:moveTo>
                  <a:pt x="0" y="0"/>
                </a:moveTo>
                <a:lnTo>
                  <a:pt x="5439869" y="0"/>
                </a:lnTo>
                <a:lnTo>
                  <a:pt x="5439869" y="4079902"/>
                </a:lnTo>
                <a:lnTo>
                  <a:pt x="0" y="4079902"/>
                </a:lnTo>
                <a:lnTo>
                  <a:pt x="0" y="0"/>
                </a:lnTo>
                <a:close/>
              </a:path>
            </a:pathLst>
          </a:custGeom>
          <a:blipFill>
            <a:blip r:embed="rId3"/>
            <a:stretch>
              <a:fillRect l="0" t="0" r="0" b="0"/>
            </a:stretch>
          </a:blipFill>
        </p:spPr>
      </p:sp>
      <p:sp>
        <p:nvSpPr>
          <p:cNvPr name="Freeform 4" id="4"/>
          <p:cNvSpPr/>
          <p:nvPr/>
        </p:nvSpPr>
        <p:spPr>
          <a:xfrm flipH="false" flipV="false" rot="0">
            <a:off x="12609300" y="5579078"/>
            <a:ext cx="5470766" cy="4103075"/>
          </a:xfrm>
          <a:custGeom>
            <a:avLst/>
            <a:gdLst/>
            <a:ahLst/>
            <a:cxnLst/>
            <a:rect r="r" b="b" t="t" l="l"/>
            <a:pathLst>
              <a:path h="4103075" w="5470766">
                <a:moveTo>
                  <a:pt x="0" y="0"/>
                </a:moveTo>
                <a:lnTo>
                  <a:pt x="5470767" y="0"/>
                </a:lnTo>
                <a:lnTo>
                  <a:pt x="5470767" y="4103075"/>
                </a:lnTo>
                <a:lnTo>
                  <a:pt x="0" y="4103075"/>
                </a:lnTo>
                <a:lnTo>
                  <a:pt x="0" y="0"/>
                </a:lnTo>
                <a:close/>
              </a:path>
            </a:pathLst>
          </a:custGeom>
          <a:blipFill>
            <a:blip r:embed="rId4"/>
            <a:stretch>
              <a:fillRect l="0" t="0" r="0" b="0"/>
            </a:stretch>
          </a:blipFill>
        </p:spPr>
      </p:sp>
      <p:sp>
        <p:nvSpPr>
          <p:cNvPr name="Freeform 5" id="5"/>
          <p:cNvSpPr/>
          <p:nvPr/>
        </p:nvSpPr>
        <p:spPr>
          <a:xfrm flipH="false" flipV="false" rot="0">
            <a:off x="452394" y="314609"/>
            <a:ext cx="5328402" cy="3996302"/>
          </a:xfrm>
          <a:custGeom>
            <a:avLst/>
            <a:gdLst/>
            <a:ahLst/>
            <a:cxnLst/>
            <a:rect r="r" b="b" t="t" l="l"/>
            <a:pathLst>
              <a:path h="3996302" w="5328402">
                <a:moveTo>
                  <a:pt x="0" y="0"/>
                </a:moveTo>
                <a:lnTo>
                  <a:pt x="5328402" y="0"/>
                </a:lnTo>
                <a:lnTo>
                  <a:pt x="5328402" y="3996302"/>
                </a:lnTo>
                <a:lnTo>
                  <a:pt x="0" y="3996302"/>
                </a:lnTo>
                <a:lnTo>
                  <a:pt x="0" y="0"/>
                </a:lnTo>
                <a:close/>
              </a:path>
            </a:pathLst>
          </a:custGeom>
          <a:blipFill>
            <a:blip r:embed="rId5"/>
            <a:stretch>
              <a:fillRect l="0" t="0" r="0" b="0"/>
            </a:stretch>
          </a:blipFill>
        </p:spPr>
      </p:sp>
      <p:sp>
        <p:nvSpPr>
          <p:cNvPr name="Freeform 6" id="6"/>
          <p:cNvSpPr/>
          <p:nvPr/>
        </p:nvSpPr>
        <p:spPr>
          <a:xfrm flipH="false" flipV="false" rot="0">
            <a:off x="6271872" y="314609"/>
            <a:ext cx="5328402" cy="3996302"/>
          </a:xfrm>
          <a:custGeom>
            <a:avLst/>
            <a:gdLst/>
            <a:ahLst/>
            <a:cxnLst/>
            <a:rect r="r" b="b" t="t" l="l"/>
            <a:pathLst>
              <a:path h="3996302" w="5328402">
                <a:moveTo>
                  <a:pt x="0" y="0"/>
                </a:moveTo>
                <a:lnTo>
                  <a:pt x="5328402" y="0"/>
                </a:lnTo>
                <a:lnTo>
                  <a:pt x="5328402" y="3996302"/>
                </a:lnTo>
                <a:lnTo>
                  <a:pt x="0" y="3996302"/>
                </a:lnTo>
                <a:lnTo>
                  <a:pt x="0" y="0"/>
                </a:lnTo>
                <a:close/>
              </a:path>
            </a:pathLst>
          </a:custGeom>
          <a:blipFill>
            <a:blip r:embed="rId6"/>
            <a:stretch>
              <a:fillRect l="0" t="0" r="0" b="0"/>
            </a:stretch>
          </a:blipFill>
        </p:spPr>
      </p:sp>
      <p:sp>
        <p:nvSpPr>
          <p:cNvPr name="Freeform 7" id="7"/>
          <p:cNvSpPr/>
          <p:nvPr/>
        </p:nvSpPr>
        <p:spPr>
          <a:xfrm flipH="false" flipV="false" rot="0">
            <a:off x="12095574" y="314609"/>
            <a:ext cx="5486384" cy="3996302"/>
          </a:xfrm>
          <a:custGeom>
            <a:avLst/>
            <a:gdLst/>
            <a:ahLst/>
            <a:cxnLst/>
            <a:rect r="r" b="b" t="t" l="l"/>
            <a:pathLst>
              <a:path h="3996302" w="5486384">
                <a:moveTo>
                  <a:pt x="0" y="0"/>
                </a:moveTo>
                <a:lnTo>
                  <a:pt x="5486384" y="0"/>
                </a:lnTo>
                <a:lnTo>
                  <a:pt x="5486384" y="3996302"/>
                </a:lnTo>
                <a:lnTo>
                  <a:pt x="0" y="3996302"/>
                </a:lnTo>
                <a:lnTo>
                  <a:pt x="0" y="0"/>
                </a:lnTo>
                <a:close/>
              </a:path>
            </a:pathLst>
          </a:custGeom>
          <a:blipFill>
            <a:blip r:embed="rId7"/>
            <a:stretch>
              <a:fillRect l="0" t="-1482" r="0" b="-1482"/>
            </a:stretch>
          </a:blipFill>
        </p:spPr>
      </p:sp>
    </p:spTree>
  </p:cSld>
  <p:clrMapOvr>
    <a:masterClrMapping/>
  </p:clrMapOvr>
</p:sld>
</file>

<file path=ppt/slides/slide27.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336255" y="509587"/>
            <a:ext cx="17615491" cy="9229725"/>
          </a:xfrm>
          <a:prstGeom prst="rect">
            <a:avLst/>
          </a:prstGeom>
        </p:spPr>
        <p:txBody>
          <a:bodyPr anchor="t" rtlCol="false" tIns="0" lIns="0" bIns="0" rIns="0">
            <a:spAutoFit/>
          </a:bodyPr>
          <a:lstStyle/>
          <a:p>
            <a:pPr algn="l" marL="647698" indent="-323849" lvl="1">
              <a:lnSpc>
                <a:spcPts val="3899"/>
              </a:lnSpc>
              <a:buFont typeface="Arial"/>
              <a:buChar char="•"/>
            </a:pPr>
            <a:r>
              <a:rPr lang="en-US" b="true" sz="2999" spc="59">
                <a:solidFill>
                  <a:srgbClr val="000000"/>
                </a:solidFill>
                <a:latin typeface="Klein Bold"/>
                <a:ea typeface="Klein Bold"/>
                <a:cs typeface="Klein Bold"/>
                <a:sym typeface="Klein Bold"/>
              </a:rPr>
              <a:t>Monsoon</a:t>
            </a:r>
          </a:p>
          <a:p>
            <a:pPr algn="l" marL="1295397" indent="-431799" lvl="2">
              <a:lnSpc>
                <a:spcPts val="3899"/>
              </a:lnSpc>
              <a:buFont typeface="Arial"/>
              <a:buChar char="⚬"/>
            </a:pPr>
            <a:r>
              <a:rPr lang="en-US" sz="2999" spc="59">
                <a:solidFill>
                  <a:srgbClr val="000000"/>
                </a:solidFill>
                <a:latin typeface="Klein"/>
                <a:ea typeface="Klein"/>
                <a:cs typeface="Klein"/>
                <a:sym typeface="Klein"/>
              </a:rPr>
              <a:t>Rainfall vs River Width (–0.64): Higher monsoon rainfall may reduce mapped river width because the channel may already be saturated and spillway operations may control flows.</a:t>
            </a:r>
          </a:p>
          <a:p>
            <a:pPr algn="l" marL="1295397" indent="-431799" lvl="2">
              <a:lnSpc>
                <a:spcPts val="3899"/>
              </a:lnSpc>
              <a:buFont typeface="Arial"/>
              <a:buChar char="⚬"/>
            </a:pPr>
            <a:r>
              <a:rPr lang="en-US" sz="2999" i="true" spc="59">
                <a:solidFill>
                  <a:srgbClr val="000000"/>
                </a:solidFill>
                <a:latin typeface="Klein Italics"/>
                <a:ea typeface="Klein Italics"/>
                <a:cs typeface="Klein Italics"/>
                <a:sym typeface="Klein Italics"/>
              </a:rPr>
              <a:t>This may be also due to improper detection of water bodies because of cloud masks while retrieval from sattelites</a:t>
            </a:r>
          </a:p>
          <a:p>
            <a:pPr algn="l" marL="1295397" indent="-431799" lvl="2">
              <a:lnSpc>
                <a:spcPts val="3899"/>
              </a:lnSpc>
              <a:buFont typeface="Arial"/>
              <a:buChar char="⚬"/>
            </a:pPr>
            <a:r>
              <a:rPr lang="en-US" sz="2999" spc="59">
                <a:solidFill>
                  <a:srgbClr val="000000"/>
                </a:solidFill>
                <a:latin typeface="Klein"/>
                <a:ea typeface="Klein"/>
                <a:cs typeface="Klein"/>
                <a:sym typeface="Klein"/>
              </a:rPr>
              <a:t>Rainfall vs Reservoir Area (–0.06): Reservoir area may show no change since it may already be near full level and extra inflow may be released immediately.</a:t>
            </a:r>
          </a:p>
          <a:p>
            <a:pPr algn="l" marL="647698" indent="-323849" lvl="1">
              <a:lnSpc>
                <a:spcPts val="3899"/>
              </a:lnSpc>
              <a:buFont typeface="Arial"/>
              <a:buChar char="•"/>
            </a:pPr>
            <a:r>
              <a:rPr lang="en-US" b="true" sz="2999" spc="59">
                <a:solidFill>
                  <a:srgbClr val="000000"/>
                </a:solidFill>
                <a:latin typeface="Klein Bold"/>
                <a:ea typeface="Klein Bold"/>
                <a:cs typeface="Klein Bold"/>
                <a:sym typeface="Klein Bold"/>
              </a:rPr>
              <a:t>Summer</a:t>
            </a:r>
          </a:p>
          <a:p>
            <a:pPr algn="l" marL="1295397" indent="-431799" lvl="2">
              <a:lnSpc>
                <a:spcPts val="3899"/>
              </a:lnSpc>
              <a:buFont typeface="Arial"/>
              <a:buChar char="⚬"/>
            </a:pPr>
            <a:r>
              <a:rPr lang="en-US" sz="2999" spc="59">
                <a:solidFill>
                  <a:srgbClr val="000000"/>
                </a:solidFill>
                <a:latin typeface="Klein"/>
                <a:ea typeface="Klein"/>
                <a:cs typeface="Klein"/>
                <a:sym typeface="Klein"/>
              </a:rPr>
              <a:t>Rainfall vs River Width (0.18): River width may not respond to rainfall because summer flows may be dominated by dam releases and irrigation withdrawals.</a:t>
            </a:r>
          </a:p>
          <a:p>
            <a:pPr algn="l" marL="1295397" indent="-431799" lvl="2">
              <a:lnSpc>
                <a:spcPts val="3899"/>
              </a:lnSpc>
              <a:buFont typeface="Arial"/>
              <a:buChar char="⚬"/>
            </a:pPr>
            <a:r>
              <a:rPr lang="en-US" sz="2999" spc="59">
                <a:solidFill>
                  <a:srgbClr val="000000"/>
                </a:solidFill>
                <a:latin typeface="Klein"/>
                <a:ea typeface="Klein"/>
                <a:cs typeface="Klein"/>
                <a:sym typeface="Klein"/>
              </a:rPr>
              <a:t>Rainfall vs Reservoir Area (0.03): Reservoir area may not correlate with rainfall because evaporation and water demand may offset any rainfall gains.</a:t>
            </a:r>
          </a:p>
          <a:p>
            <a:pPr algn="l" marL="647698" indent="-323849" lvl="1">
              <a:lnSpc>
                <a:spcPts val="3899"/>
              </a:lnSpc>
              <a:buFont typeface="Arial"/>
              <a:buChar char="•"/>
            </a:pPr>
            <a:r>
              <a:rPr lang="en-US" b="true" sz="2999" spc="59">
                <a:solidFill>
                  <a:srgbClr val="000000"/>
                </a:solidFill>
                <a:latin typeface="Klein Bold"/>
                <a:ea typeface="Klein Bold"/>
                <a:cs typeface="Klein Bold"/>
                <a:sym typeface="Klein Bold"/>
              </a:rPr>
              <a:t>Winter</a:t>
            </a:r>
          </a:p>
          <a:p>
            <a:pPr algn="l" marL="1295397" indent="-431799" lvl="2">
              <a:lnSpc>
                <a:spcPts val="3899"/>
              </a:lnSpc>
              <a:buFont typeface="Arial"/>
              <a:buChar char="⚬"/>
            </a:pPr>
            <a:r>
              <a:rPr lang="en-US" sz="2999" spc="59">
                <a:solidFill>
                  <a:srgbClr val="000000"/>
                </a:solidFill>
                <a:latin typeface="Klein"/>
                <a:ea typeface="Klein"/>
                <a:cs typeface="Klein"/>
                <a:sym typeface="Klein"/>
              </a:rPr>
              <a:t>Rainfall vs River Width (0.17): River width may show weak correlation because small winter inflows may not significantly alter channel geometry.</a:t>
            </a:r>
          </a:p>
          <a:p>
            <a:pPr algn="l" marL="1295397" indent="-431799" lvl="2">
              <a:lnSpc>
                <a:spcPts val="3899"/>
              </a:lnSpc>
              <a:buFont typeface="Arial"/>
              <a:buChar char="⚬"/>
            </a:pPr>
            <a:r>
              <a:rPr lang="en-US" sz="2999" spc="59">
                <a:solidFill>
                  <a:srgbClr val="000000"/>
                </a:solidFill>
                <a:latin typeface="Klein"/>
                <a:ea typeface="Klein"/>
                <a:cs typeface="Klein"/>
                <a:sym typeface="Klein"/>
              </a:rPr>
              <a:t>Rainfall vs Reservoir Area (0.84): Reservoir area may increase strongly with rainfall because winter inflows may directly fill storage when the reservoir is below capacity. Not much effect of evaporation and excess rainfall too</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grpSp>
        <p:nvGrpSpPr>
          <p:cNvPr name="Group 2" id="2"/>
          <p:cNvGrpSpPr/>
          <p:nvPr/>
        </p:nvGrpSpPr>
        <p:grpSpPr>
          <a:xfrm rot="0">
            <a:off x="0" y="1626165"/>
            <a:ext cx="18288000" cy="8660835"/>
            <a:chOff x="0" y="0"/>
            <a:chExt cx="4816593" cy="2281043"/>
          </a:xfrm>
        </p:grpSpPr>
        <p:sp>
          <p:nvSpPr>
            <p:cNvPr name="Freeform 3" id="3"/>
            <p:cNvSpPr/>
            <p:nvPr/>
          </p:nvSpPr>
          <p:spPr>
            <a:xfrm flipH="false" flipV="false" rot="0">
              <a:off x="0" y="0"/>
              <a:ext cx="4816592" cy="2281043"/>
            </a:xfrm>
            <a:custGeom>
              <a:avLst/>
              <a:gdLst/>
              <a:ahLst/>
              <a:cxnLst/>
              <a:rect r="r" b="b" t="t" l="l"/>
              <a:pathLst>
                <a:path h="2281043" w="4816592">
                  <a:moveTo>
                    <a:pt x="0" y="0"/>
                  </a:moveTo>
                  <a:lnTo>
                    <a:pt x="4816592" y="0"/>
                  </a:lnTo>
                  <a:lnTo>
                    <a:pt x="4816592" y="2281043"/>
                  </a:lnTo>
                  <a:lnTo>
                    <a:pt x="0" y="2281043"/>
                  </a:lnTo>
                  <a:close/>
                </a:path>
              </a:pathLst>
            </a:custGeom>
            <a:solidFill>
              <a:srgbClr val="EFB59C"/>
            </a:solidFill>
            <a:ln cap="sq">
              <a:noFill/>
              <a:prstDash val="solid"/>
              <a:miter/>
            </a:ln>
          </p:spPr>
        </p:sp>
        <p:sp>
          <p:nvSpPr>
            <p:cNvPr name="TextBox 4" id="4"/>
            <p:cNvSpPr txBox="true"/>
            <p:nvPr/>
          </p:nvSpPr>
          <p:spPr>
            <a:xfrm>
              <a:off x="0" y="-47625"/>
              <a:ext cx="4816593" cy="2328668"/>
            </a:xfrm>
            <a:prstGeom prst="rect">
              <a:avLst/>
            </a:prstGeom>
          </p:spPr>
          <p:txBody>
            <a:bodyPr anchor="ctr" rtlCol="false" tIns="50800" lIns="50800" bIns="50800" rIns="50800"/>
            <a:lstStyle/>
            <a:p>
              <a:pPr algn="ctr" marL="0" indent="0" lvl="0">
                <a:lnSpc>
                  <a:spcPts val="2659"/>
                </a:lnSpc>
                <a:spcBef>
                  <a:spcPct val="0"/>
                </a:spcBef>
              </a:pPr>
            </a:p>
          </p:txBody>
        </p:sp>
      </p:grpSp>
      <p:graphicFrame>
        <p:nvGraphicFramePr>
          <p:cNvPr name="Table 5" id="5"/>
          <p:cNvGraphicFramePr>
            <a:graphicFrameLocks noGrp="true"/>
          </p:cNvGraphicFramePr>
          <p:nvPr/>
        </p:nvGraphicFramePr>
        <p:xfrm>
          <a:off x="4578455" y="4615084"/>
          <a:ext cx="9150706" cy="5048250"/>
        </p:xfrm>
        <a:graphic>
          <a:graphicData uri="http://schemas.openxmlformats.org/drawingml/2006/table">
            <a:tbl>
              <a:tblPr/>
              <a:tblGrid>
                <a:gridCol w="2435842"/>
                <a:gridCol w="2717776"/>
                <a:gridCol w="3997088"/>
              </a:tblGrid>
              <a:tr h="1026925">
                <a:tc>
                  <a:txBody>
                    <a:bodyPr anchor="t" rtlCol="false"/>
                    <a:lstStyle/>
                    <a:p>
                      <a:pPr algn="ctr">
                        <a:lnSpc>
                          <a:spcPts val="349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b="true">
                          <a:solidFill>
                            <a:srgbClr val="000000"/>
                          </a:solidFill>
                          <a:latin typeface="Klein Bold"/>
                          <a:ea typeface="Klein Bold"/>
                          <a:cs typeface="Klein Bold"/>
                          <a:sym typeface="Klein Bold"/>
                        </a:rPr>
                        <a:t>Year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b="true">
                          <a:solidFill>
                            <a:srgbClr val="000000"/>
                          </a:solidFill>
                          <a:latin typeface="Klein Bold"/>
                          <a:ea typeface="Klein Bold"/>
                          <a:cs typeface="Klein Bold"/>
                          <a:sym typeface="Klein Bold"/>
                        </a:rPr>
                        <a:t>Reservoir_Area_km2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40548">
                <a:tc>
                  <a:txBody>
                    <a:bodyPr anchor="t" rtlCol="false"/>
                    <a:lstStyle/>
                    <a:p>
                      <a:pPr algn="ctr">
                        <a:lnSpc>
                          <a:spcPts val="3499"/>
                        </a:lnSpc>
                        <a:defRPr/>
                      </a:pPr>
                      <a:r>
                        <a:rPr lang="en-US" sz="2499" b="true">
                          <a:solidFill>
                            <a:srgbClr val="000000"/>
                          </a:solidFill>
                          <a:latin typeface="Klein Bold"/>
                          <a:ea typeface="Klein Bold"/>
                          <a:cs typeface="Klein Bold"/>
                          <a:sym typeface="Klein Bold"/>
                        </a:rPr>
                        <a:t>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1995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277.898402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925">
                <a:tc>
                  <a:txBody>
                    <a:bodyPr anchor="t" rtlCol="false"/>
                    <a:lstStyle/>
                    <a:p>
                      <a:pPr algn="ctr">
                        <a:lnSpc>
                          <a:spcPts val="3499"/>
                        </a:lnSpc>
                        <a:defRPr/>
                      </a:pPr>
                      <a:r>
                        <a:rPr lang="en-US" sz="2499" b="true">
                          <a:solidFill>
                            <a:srgbClr val="000000"/>
                          </a:solidFill>
                          <a:latin typeface="Klein Bold"/>
                          <a:ea typeface="Klein Bold"/>
                          <a:cs typeface="Klein Bold"/>
                          <a:sym typeface="Klein Bold"/>
                        </a:rPr>
                        <a:t>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2005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339.744787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925">
                <a:tc>
                  <a:txBody>
                    <a:bodyPr anchor="t" rtlCol="false"/>
                    <a:lstStyle/>
                    <a:p>
                      <a:pPr algn="ctr">
                        <a:lnSpc>
                          <a:spcPts val="3499"/>
                        </a:lnSpc>
                        <a:defRPr/>
                      </a:pPr>
                      <a:r>
                        <a:rPr lang="en-US" sz="2499" b="true">
                          <a:solidFill>
                            <a:srgbClr val="000000"/>
                          </a:solidFill>
                          <a:latin typeface="Klein Bold"/>
                          <a:ea typeface="Klein Bold"/>
                          <a:cs typeface="Klein Bold"/>
                          <a:sym typeface="Klein Bold"/>
                        </a:rPr>
                        <a:t>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2015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400.254471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6925">
                <a:tc>
                  <a:txBody>
                    <a:bodyPr anchor="t" rtlCol="false"/>
                    <a:lstStyle/>
                    <a:p>
                      <a:pPr algn="ctr">
                        <a:lnSpc>
                          <a:spcPts val="3499"/>
                        </a:lnSpc>
                        <a:defRPr/>
                      </a:pPr>
                      <a:r>
                        <a:rPr lang="en-US" sz="2499" b="true">
                          <a:solidFill>
                            <a:srgbClr val="000000"/>
                          </a:solidFill>
                          <a:latin typeface="Klein Bold"/>
                          <a:ea typeface="Klein Bold"/>
                          <a:cs typeface="Klein Bold"/>
                          <a:sym typeface="Klein Bold"/>
                        </a:rPr>
                        <a:t>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2025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Klein"/>
                          <a:ea typeface="Klein"/>
                          <a:cs typeface="Klein"/>
                          <a:sym typeface="Klein"/>
                        </a:rPr>
                        <a:t>512.282817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4462177" y="436790"/>
            <a:ext cx="9613408" cy="990600"/>
          </a:xfrm>
          <a:prstGeom prst="rect">
            <a:avLst/>
          </a:prstGeom>
        </p:spPr>
        <p:txBody>
          <a:bodyPr anchor="t" rtlCol="false" tIns="0" lIns="0" bIns="0" rIns="0">
            <a:spAutoFit/>
          </a:bodyPr>
          <a:lstStyle/>
          <a:p>
            <a:pPr algn="ctr">
              <a:lnSpc>
                <a:spcPts val="7800"/>
              </a:lnSpc>
              <a:spcBef>
                <a:spcPct val="0"/>
              </a:spcBef>
            </a:pPr>
            <a:r>
              <a:rPr lang="en-US" b="true" sz="6000" spc="120">
                <a:solidFill>
                  <a:srgbClr val="000000"/>
                </a:solidFill>
                <a:latin typeface="Klein Bold"/>
                <a:ea typeface="Klein Bold"/>
                <a:cs typeface="Klein Bold"/>
                <a:sym typeface="Klein Bold"/>
              </a:rPr>
              <a:t>Decadal trends</a:t>
            </a:r>
          </a:p>
        </p:txBody>
      </p:sp>
      <p:sp>
        <p:nvSpPr>
          <p:cNvPr name="TextBox 7" id="7"/>
          <p:cNvSpPr txBox="true"/>
          <p:nvPr/>
        </p:nvSpPr>
        <p:spPr>
          <a:xfrm rot="0">
            <a:off x="311606" y="2202737"/>
            <a:ext cx="17684403" cy="2018538"/>
          </a:xfrm>
          <a:prstGeom prst="rect">
            <a:avLst/>
          </a:prstGeom>
        </p:spPr>
        <p:txBody>
          <a:bodyPr anchor="t" rtlCol="false" tIns="0" lIns="0" bIns="0" rIns="0">
            <a:spAutoFit/>
          </a:bodyPr>
          <a:lstStyle/>
          <a:p>
            <a:pPr algn="l">
              <a:lnSpc>
                <a:spcPts val="4056"/>
              </a:lnSpc>
            </a:pPr>
            <a:r>
              <a:rPr lang="en-US" sz="3120" spc="62">
                <a:solidFill>
                  <a:srgbClr val="000000"/>
                </a:solidFill>
                <a:latin typeface="Klein"/>
                <a:ea typeface="Klein"/>
                <a:cs typeface="Klein"/>
                <a:sym typeface="Klein"/>
              </a:rPr>
              <a:t>Before 2012, we used Landsat 5, but after 2016, we were using sentinel-2. Both satellites may have difference in detection of waves(Due to failure of Landsat 6 &amp; 7)</a:t>
            </a:r>
          </a:p>
          <a:p>
            <a:pPr algn="l">
              <a:lnSpc>
                <a:spcPts val="3900"/>
              </a:lnSpc>
            </a:pPr>
          </a:p>
          <a:p>
            <a:pPr algn="l">
              <a:lnSpc>
                <a:spcPts val="3900"/>
              </a:lnSpc>
              <a:spcBef>
                <a:spcPct val="0"/>
              </a:spcBef>
            </a:pPr>
            <a:r>
              <a:rPr lang="en-US" sz="3000" spc="60">
                <a:solidFill>
                  <a:srgbClr val="000000"/>
                </a:solidFill>
                <a:latin typeface="Klein"/>
                <a:ea typeface="Klein"/>
                <a:cs typeface="Klein"/>
                <a:sym typeface="Klein"/>
              </a:rPr>
              <a:t>So with available data, we will consider total reservoir area change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97D4E8"/>
        </a:solidFill>
      </p:bgPr>
    </p:bg>
    <p:spTree>
      <p:nvGrpSpPr>
        <p:cNvPr id="1" name=""/>
        <p:cNvGrpSpPr/>
        <p:nvPr/>
      </p:nvGrpSpPr>
      <p:grpSpPr>
        <a:xfrm>
          <a:off x="0" y="0"/>
          <a:ext cx="0" cy="0"/>
          <a:chOff x="0" y="0"/>
          <a:chExt cx="0" cy="0"/>
        </a:xfrm>
      </p:grpSpPr>
      <p:sp>
        <p:nvSpPr>
          <p:cNvPr name="Freeform 2" id="2"/>
          <p:cNvSpPr/>
          <p:nvPr/>
        </p:nvSpPr>
        <p:spPr>
          <a:xfrm flipH="false" flipV="false" rot="0">
            <a:off x="583982" y="516600"/>
            <a:ext cx="4469709" cy="4267562"/>
          </a:xfrm>
          <a:custGeom>
            <a:avLst/>
            <a:gdLst/>
            <a:ahLst/>
            <a:cxnLst/>
            <a:rect r="r" b="b" t="t" l="l"/>
            <a:pathLst>
              <a:path h="4267562" w="4469709">
                <a:moveTo>
                  <a:pt x="0" y="0"/>
                </a:moveTo>
                <a:lnTo>
                  <a:pt x="4469710" y="0"/>
                </a:lnTo>
                <a:lnTo>
                  <a:pt x="4469710" y="4267561"/>
                </a:lnTo>
                <a:lnTo>
                  <a:pt x="0" y="4267561"/>
                </a:lnTo>
                <a:lnTo>
                  <a:pt x="0" y="0"/>
                </a:lnTo>
                <a:close/>
              </a:path>
            </a:pathLst>
          </a:custGeom>
          <a:blipFill>
            <a:blip r:embed="rId2"/>
            <a:stretch>
              <a:fillRect l="-2755" t="-2028" r="-2440" b="-3264"/>
            </a:stretch>
          </a:blipFill>
        </p:spPr>
      </p:sp>
      <p:sp>
        <p:nvSpPr>
          <p:cNvPr name="Freeform 3" id="3"/>
          <p:cNvSpPr/>
          <p:nvPr/>
        </p:nvSpPr>
        <p:spPr>
          <a:xfrm flipH="false" flipV="false" rot="0">
            <a:off x="12810140" y="516600"/>
            <a:ext cx="4449160" cy="4267562"/>
          </a:xfrm>
          <a:custGeom>
            <a:avLst/>
            <a:gdLst/>
            <a:ahLst/>
            <a:cxnLst/>
            <a:rect r="r" b="b" t="t" l="l"/>
            <a:pathLst>
              <a:path h="4267562" w="4449160">
                <a:moveTo>
                  <a:pt x="0" y="0"/>
                </a:moveTo>
                <a:lnTo>
                  <a:pt x="4449160" y="0"/>
                </a:lnTo>
                <a:lnTo>
                  <a:pt x="4449160" y="4267561"/>
                </a:lnTo>
                <a:lnTo>
                  <a:pt x="0" y="4267561"/>
                </a:lnTo>
                <a:lnTo>
                  <a:pt x="0" y="0"/>
                </a:lnTo>
                <a:close/>
              </a:path>
            </a:pathLst>
          </a:custGeom>
          <a:blipFill>
            <a:blip r:embed="rId3"/>
            <a:stretch>
              <a:fillRect l="-3508" t="-1433" r="-2727" b="-4411"/>
            </a:stretch>
          </a:blipFill>
        </p:spPr>
      </p:sp>
      <p:sp>
        <p:nvSpPr>
          <p:cNvPr name="Freeform 4" id="4"/>
          <p:cNvSpPr/>
          <p:nvPr/>
        </p:nvSpPr>
        <p:spPr>
          <a:xfrm flipH="false" flipV="false" rot="0">
            <a:off x="628904" y="5570291"/>
            <a:ext cx="4357405" cy="4290023"/>
          </a:xfrm>
          <a:custGeom>
            <a:avLst/>
            <a:gdLst/>
            <a:ahLst/>
            <a:cxnLst/>
            <a:rect r="r" b="b" t="t" l="l"/>
            <a:pathLst>
              <a:path h="4290023" w="4357405">
                <a:moveTo>
                  <a:pt x="0" y="0"/>
                </a:moveTo>
                <a:lnTo>
                  <a:pt x="4357405" y="0"/>
                </a:lnTo>
                <a:lnTo>
                  <a:pt x="4357405" y="4290023"/>
                </a:lnTo>
                <a:lnTo>
                  <a:pt x="0" y="4290023"/>
                </a:lnTo>
                <a:lnTo>
                  <a:pt x="0" y="0"/>
                </a:lnTo>
                <a:close/>
              </a:path>
            </a:pathLst>
          </a:custGeom>
          <a:blipFill>
            <a:blip r:embed="rId4"/>
            <a:stretch>
              <a:fillRect l="-3307" t="-445" r="-3822" b="-3541"/>
            </a:stretch>
          </a:blipFill>
        </p:spPr>
      </p:sp>
      <p:sp>
        <p:nvSpPr>
          <p:cNvPr name="Freeform 5" id="5"/>
          <p:cNvSpPr/>
          <p:nvPr/>
        </p:nvSpPr>
        <p:spPr>
          <a:xfrm flipH="false" flipV="false" rot="0">
            <a:off x="12810140" y="5570291"/>
            <a:ext cx="4582014" cy="4447249"/>
          </a:xfrm>
          <a:custGeom>
            <a:avLst/>
            <a:gdLst/>
            <a:ahLst/>
            <a:cxnLst/>
            <a:rect r="r" b="b" t="t" l="l"/>
            <a:pathLst>
              <a:path h="4447249" w="4582014">
                <a:moveTo>
                  <a:pt x="0" y="0"/>
                </a:moveTo>
                <a:lnTo>
                  <a:pt x="4582014" y="0"/>
                </a:lnTo>
                <a:lnTo>
                  <a:pt x="4582014" y="4447249"/>
                </a:lnTo>
                <a:lnTo>
                  <a:pt x="0" y="4447249"/>
                </a:lnTo>
                <a:lnTo>
                  <a:pt x="0" y="0"/>
                </a:lnTo>
                <a:close/>
              </a:path>
            </a:pathLst>
          </a:custGeom>
          <a:blipFill>
            <a:blip r:embed="rId5"/>
            <a:stretch>
              <a:fillRect l="-3501" t="-1944" r="-2982" b="-2901"/>
            </a:stretch>
          </a:blipFill>
        </p:spPr>
      </p:sp>
      <p:sp>
        <p:nvSpPr>
          <p:cNvPr name="TextBox 6" id="6"/>
          <p:cNvSpPr txBox="true"/>
          <p:nvPr/>
        </p:nvSpPr>
        <p:spPr>
          <a:xfrm rot="0">
            <a:off x="5753541" y="3000372"/>
            <a:ext cx="1027807"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2025</a:t>
            </a:r>
          </a:p>
        </p:txBody>
      </p:sp>
      <p:sp>
        <p:nvSpPr>
          <p:cNvPr name="TextBox 7" id="7"/>
          <p:cNvSpPr txBox="true"/>
          <p:nvPr/>
        </p:nvSpPr>
        <p:spPr>
          <a:xfrm rot="0">
            <a:off x="11152110" y="7391770"/>
            <a:ext cx="1029295"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1995</a:t>
            </a:r>
          </a:p>
        </p:txBody>
      </p:sp>
      <p:sp>
        <p:nvSpPr>
          <p:cNvPr name="TextBox 8" id="8"/>
          <p:cNvSpPr txBox="true"/>
          <p:nvPr/>
        </p:nvSpPr>
        <p:spPr>
          <a:xfrm rot="0">
            <a:off x="5753541" y="7134913"/>
            <a:ext cx="1098352"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2005</a:t>
            </a:r>
          </a:p>
        </p:txBody>
      </p:sp>
      <p:sp>
        <p:nvSpPr>
          <p:cNvPr name="TextBox 9" id="9"/>
          <p:cNvSpPr txBox="true"/>
          <p:nvPr/>
        </p:nvSpPr>
        <p:spPr>
          <a:xfrm rot="0">
            <a:off x="10946296" y="3000372"/>
            <a:ext cx="1017091"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2015</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97D4E8"/>
        </a:solidFill>
      </p:bgPr>
    </p:bg>
    <p:spTree>
      <p:nvGrpSpPr>
        <p:cNvPr id="1" name=""/>
        <p:cNvGrpSpPr/>
        <p:nvPr/>
      </p:nvGrpSpPr>
      <p:grpSpPr>
        <a:xfrm>
          <a:off x="0" y="0"/>
          <a:ext cx="0" cy="0"/>
          <a:chOff x="0" y="0"/>
          <a:chExt cx="0" cy="0"/>
        </a:xfrm>
      </p:grpSpPr>
      <p:sp>
        <p:nvSpPr>
          <p:cNvPr name="TextBox 2" id="2"/>
          <p:cNvSpPr txBox="true"/>
          <p:nvPr/>
        </p:nvSpPr>
        <p:spPr>
          <a:xfrm rot="0">
            <a:off x="451125" y="118012"/>
            <a:ext cx="13114586" cy="504825"/>
          </a:xfrm>
          <a:prstGeom prst="rect">
            <a:avLst/>
          </a:prstGeom>
        </p:spPr>
        <p:txBody>
          <a:bodyPr anchor="t" rtlCol="false" tIns="0" lIns="0" bIns="0" rIns="0">
            <a:spAutoFit/>
          </a:bodyPr>
          <a:lstStyle/>
          <a:p>
            <a:pPr algn="l">
              <a:lnSpc>
                <a:spcPts val="3900"/>
              </a:lnSpc>
              <a:spcBef>
                <a:spcPct val="0"/>
              </a:spcBef>
            </a:pPr>
            <a:r>
              <a:rPr lang="en-US" b="true" sz="3000" spc="60">
                <a:solidFill>
                  <a:srgbClr val="000000"/>
                </a:solidFill>
                <a:latin typeface="Klein Bold"/>
                <a:ea typeface="Klein Bold"/>
                <a:cs typeface="Klein Bold"/>
                <a:sym typeface="Klein Bold"/>
              </a:rPr>
              <a:t>Conclusion from decadal trends</a:t>
            </a:r>
          </a:p>
        </p:txBody>
      </p:sp>
      <p:sp>
        <p:nvSpPr>
          <p:cNvPr name="TextBox 3" id="3"/>
          <p:cNvSpPr txBox="true"/>
          <p:nvPr/>
        </p:nvSpPr>
        <p:spPr>
          <a:xfrm rot="0">
            <a:off x="0" y="346612"/>
            <a:ext cx="18288000" cy="9915525"/>
          </a:xfrm>
          <a:prstGeom prst="rect">
            <a:avLst/>
          </a:prstGeom>
        </p:spPr>
        <p:txBody>
          <a:bodyPr anchor="t" rtlCol="false" tIns="0" lIns="0" bIns="0" rIns="0">
            <a:spAutoFit/>
          </a:bodyPr>
          <a:lstStyle/>
          <a:p>
            <a:pPr algn="l">
              <a:lnSpc>
                <a:spcPts val="3900"/>
              </a:lnSpc>
            </a:pPr>
          </a:p>
          <a:p>
            <a:pPr algn="l" marL="647700" indent="-323850" lvl="1">
              <a:lnSpc>
                <a:spcPts val="3900"/>
              </a:lnSpc>
              <a:buFont typeface="Arial"/>
              <a:buChar char="•"/>
            </a:pPr>
            <a:r>
              <a:rPr lang="en-US" sz="3000" spc="60">
                <a:solidFill>
                  <a:srgbClr val="000000"/>
                </a:solidFill>
                <a:latin typeface="Klein"/>
                <a:ea typeface="Klein"/>
                <a:cs typeface="Klein"/>
                <a:sym typeface="Klein"/>
              </a:rPr>
              <a:t>Higher carry-over storage</a:t>
            </a:r>
          </a:p>
          <a:p>
            <a:pPr algn="l" marL="1295400" indent="-431800" lvl="2">
              <a:lnSpc>
                <a:spcPts val="3900"/>
              </a:lnSpc>
              <a:buFont typeface="Arial"/>
              <a:buChar char="⚬"/>
            </a:pPr>
            <a:r>
              <a:rPr lang="en-US" sz="3000" spc="60">
                <a:solidFill>
                  <a:srgbClr val="000000"/>
                </a:solidFill>
                <a:latin typeface="Klein"/>
                <a:ea typeface="Klein"/>
                <a:cs typeface="Klein"/>
                <a:sym typeface="Klein"/>
              </a:rPr>
              <a:t> Reservoir operators now retain more water after the monsoon to meet increasing irrigation, urban drinking water, and hydropower demands, resulting in a larger dry-season water spread.</a:t>
            </a:r>
          </a:p>
          <a:p>
            <a:pPr algn="l" marL="647700" indent="-323850" lvl="1">
              <a:lnSpc>
                <a:spcPts val="3900"/>
              </a:lnSpc>
              <a:buFont typeface="Arial"/>
              <a:buChar char="•"/>
            </a:pPr>
            <a:r>
              <a:rPr lang="en-US" sz="3000" spc="60">
                <a:solidFill>
                  <a:srgbClr val="000000"/>
                </a:solidFill>
                <a:latin typeface="Klein"/>
                <a:ea typeface="Klein"/>
                <a:cs typeface="Klein"/>
                <a:sym typeface="Klein"/>
              </a:rPr>
              <a:t>Stronger upstream regulation</a:t>
            </a:r>
          </a:p>
          <a:p>
            <a:pPr algn="l" marL="1295400" indent="-431800" lvl="2">
              <a:lnSpc>
                <a:spcPts val="3900"/>
              </a:lnSpc>
              <a:buFont typeface="Arial"/>
              <a:buChar char="⚬"/>
            </a:pPr>
            <a:r>
              <a:rPr lang="en-US" sz="3000" spc="60">
                <a:solidFill>
                  <a:srgbClr val="000000"/>
                </a:solidFill>
                <a:latin typeface="Klein"/>
                <a:ea typeface="Klein"/>
                <a:cs typeface="Klein"/>
                <a:sym typeface="Klein"/>
              </a:rPr>
              <a:t> The Krishna cascade and newer downstream structures and the tail-pond have improved flow regulation, allowing Nagarjuna Sagar to maintain a more stable water level in the dry months.</a:t>
            </a:r>
          </a:p>
          <a:p>
            <a:pPr algn="l" marL="647700" indent="-323850" lvl="1">
              <a:lnSpc>
                <a:spcPts val="3900"/>
              </a:lnSpc>
              <a:buFont typeface="Arial"/>
              <a:buChar char="•"/>
            </a:pPr>
            <a:r>
              <a:rPr lang="en-US" sz="3000" spc="60">
                <a:solidFill>
                  <a:srgbClr val="000000"/>
                </a:solidFill>
                <a:latin typeface="Klein"/>
                <a:ea typeface="Klein"/>
                <a:cs typeface="Klein"/>
                <a:sym typeface="Klein"/>
              </a:rPr>
              <a:t>More intense monsoon events in recent decades</a:t>
            </a:r>
          </a:p>
          <a:p>
            <a:pPr algn="l" marL="1295400" indent="-431800" lvl="2">
              <a:lnSpc>
                <a:spcPts val="3900"/>
              </a:lnSpc>
              <a:buFont typeface="Arial"/>
              <a:buChar char="⚬"/>
            </a:pPr>
            <a:r>
              <a:rPr lang="en-US" sz="3000" spc="60">
                <a:solidFill>
                  <a:srgbClr val="000000"/>
                </a:solidFill>
                <a:latin typeface="Klein"/>
                <a:ea typeface="Klein"/>
                <a:cs typeface="Klein"/>
                <a:sym typeface="Klein"/>
              </a:rPr>
              <a:t> High-intensity rainfall years provide larger inflows, so the reservoir often enters the dry season with higher end-of-monsoon storage, increasing the mapped water area.</a:t>
            </a:r>
          </a:p>
          <a:p>
            <a:pPr algn="l" marL="647700" indent="-323850" lvl="1">
              <a:lnSpc>
                <a:spcPts val="3900"/>
              </a:lnSpc>
              <a:buFont typeface="Arial"/>
              <a:buChar char="•"/>
            </a:pPr>
            <a:r>
              <a:rPr lang="en-US" sz="3000" spc="60">
                <a:solidFill>
                  <a:srgbClr val="000000"/>
                </a:solidFill>
                <a:latin typeface="Klein"/>
                <a:ea typeface="Klein"/>
                <a:cs typeface="Klein"/>
                <a:sym typeface="Klein"/>
              </a:rPr>
              <a:t>Improved canal efficiency and modernization</a:t>
            </a:r>
          </a:p>
          <a:p>
            <a:pPr algn="l" marL="1295400" indent="-431800" lvl="2">
              <a:lnSpc>
                <a:spcPts val="3900"/>
              </a:lnSpc>
              <a:buFont typeface="Arial"/>
              <a:buChar char="⚬"/>
            </a:pPr>
            <a:r>
              <a:rPr lang="en-US" sz="3000" spc="60">
                <a:solidFill>
                  <a:srgbClr val="000000"/>
                </a:solidFill>
                <a:latin typeface="Klein"/>
                <a:ea typeface="Klein"/>
                <a:cs typeface="Klein"/>
                <a:sym typeface="Klein"/>
              </a:rPr>
              <a:t> Canal lining, modernization of distribution systems, and better scheduling have reduced water losses, meaning less drawdown is required, leaving a larger dry-season surface area.</a:t>
            </a:r>
          </a:p>
          <a:p>
            <a:pPr algn="l" marL="647700" indent="-323850" lvl="1">
              <a:lnSpc>
                <a:spcPts val="3900"/>
              </a:lnSpc>
              <a:buFont typeface="Arial"/>
              <a:buChar char="•"/>
            </a:pPr>
            <a:r>
              <a:rPr lang="en-US" sz="3000" spc="60">
                <a:solidFill>
                  <a:srgbClr val="000000"/>
                </a:solidFill>
                <a:latin typeface="Klein"/>
                <a:ea typeface="Klein"/>
                <a:cs typeface="Klein"/>
                <a:sym typeface="Klein"/>
              </a:rPr>
              <a:t>Remote sensing improvements (minor effect)</a:t>
            </a:r>
          </a:p>
          <a:p>
            <a:pPr algn="l" marL="1295400" indent="-431800" lvl="2">
              <a:lnSpc>
                <a:spcPts val="3900"/>
              </a:lnSpc>
              <a:buFont typeface="Arial"/>
              <a:buChar char="⚬"/>
            </a:pPr>
            <a:r>
              <a:rPr lang="en-US" sz="3000" spc="60">
                <a:solidFill>
                  <a:srgbClr val="000000"/>
                </a:solidFill>
                <a:latin typeface="Klein"/>
                <a:ea typeface="Klein"/>
                <a:cs typeface="Klein"/>
                <a:sym typeface="Klein"/>
              </a:rPr>
              <a:t> Newer sensors and MNDWI methods can detect shallow and fringe water more accurately, slightly increasing the mapped water area in recent decades.</a:t>
            </a:r>
          </a:p>
          <a:p>
            <a:pPr algn="l">
              <a:lnSpc>
                <a:spcPts val="3900"/>
              </a:lnSpc>
            </a:pP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EFB59C"/>
        </a:solidFill>
      </p:bgPr>
    </p:bg>
    <p:spTree>
      <p:nvGrpSpPr>
        <p:cNvPr id="1" name=""/>
        <p:cNvGrpSpPr/>
        <p:nvPr/>
      </p:nvGrpSpPr>
      <p:grpSpPr>
        <a:xfrm>
          <a:off x="0" y="0"/>
          <a:ext cx="0" cy="0"/>
          <a:chOff x="0" y="0"/>
          <a:chExt cx="0" cy="0"/>
        </a:xfrm>
      </p:grpSpPr>
      <p:sp>
        <p:nvSpPr>
          <p:cNvPr name="TextBox 2" id="2"/>
          <p:cNvSpPr txBox="true"/>
          <p:nvPr/>
        </p:nvSpPr>
        <p:spPr>
          <a:xfrm rot="0">
            <a:off x="0" y="68384"/>
            <a:ext cx="18288000" cy="2095500"/>
          </a:xfrm>
          <a:prstGeom prst="rect">
            <a:avLst/>
          </a:prstGeom>
        </p:spPr>
        <p:txBody>
          <a:bodyPr anchor="t" rtlCol="false" tIns="0" lIns="0" bIns="0" rIns="0">
            <a:spAutoFit/>
          </a:bodyPr>
          <a:lstStyle/>
          <a:p>
            <a:pPr algn="l">
              <a:lnSpc>
                <a:spcPts val="8400"/>
              </a:lnSpc>
            </a:pPr>
            <a:r>
              <a:rPr lang="en-US" sz="6000" b="true">
                <a:solidFill>
                  <a:srgbClr val="000000"/>
                </a:solidFill>
                <a:latin typeface="Canva Sans Bold"/>
                <a:ea typeface="Canva Sans Bold"/>
                <a:cs typeface="Canva Sans Bold"/>
                <a:sym typeface="Canva Sans Bold"/>
              </a:rPr>
              <a:t>Modifications Implemented ( Based on Mid Submission Feedback)</a:t>
            </a:r>
          </a:p>
        </p:txBody>
      </p:sp>
      <p:sp>
        <p:nvSpPr>
          <p:cNvPr name="TextBox 3" id="3"/>
          <p:cNvSpPr txBox="true"/>
          <p:nvPr/>
        </p:nvSpPr>
        <p:spPr>
          <a:xfrm rot="0">
            <a:off x="0" y="4388803"/>
            <a:ext cx="18288000" cy="2647950"/>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00000"/>
                </a:solidFill>
                <a:latin typeface="Canva Sans Bold"/>
                <a:ea typeface="Canva Sans Bold"/>
                <a:cs typeface="Canva Sans Bold"/>
                <a:sym typeface="Canva Sans Bold"/>
              </a:rPr>
              <a:t>We refined our AOI to be along a part of a river rather than its entire length and instead focused on areas with major rivers and reservoirs.</a:t>
            </a:r>
          </a:p>
          <a:p>
            <a:pPr algn="l" marL="647700" indent="-323850" lvl="1">
              <a:lnSpc>
                <a:spcPts val="4200"/>
              </a:lnSpc>
              <a:buFont typeface="Arial"/>
              <a:buChar char="•"/>
            </a:pPr>
            <a:r>
              <a:rPr lang="en-US" b="true" sz="3000">
                <a:solidFill>
                  <a:srgbClr val="000000"/>
                </a:solidFill>
                <a:latin typeface="Canva Sans Bold"/>
                <a:ea typeface="Canva Sans Bold"/>
                <a:cs typeface="Canva Sans Bold"/>
                <a:sym typeface="Canva Sans Bold"/>
              </a:rPr>
              <a:t>Directly using Satellite Data to calculate River Width rather following the centreline method mentioned in our Mid Submission.</a:t>
            </a:r>
          </a:p>
          <a:p>
            <a:pPr algn="l" marL="647700" indent="-323850" lvl="1">
              <a:lnSpc>
                <a:spcPts val="4200"/>
              </a:lnSpc>
              <a:buFont typeface="Arial"/>
              <a:buChar char="•"/>
            </a:pPr>
            <a:r>
              <a:rPr lang="en-US" b="true" sz="3000">
                <a:solidFill>
                  <a:srgbClr val="000000"/>
                </a:solidFill>
                <a:latin typeface="Canva Sans Bold"/>
                <a:ea typeface="Canva Sans Bold"/>
                <a:cs typeface="Canva Sans Bold"/>
                <a:sym typeface="Canva Sans Bold"/>
              </a:rPr>
              <a:t>Used LULC from Bhuvan directly instead of training a classifier.</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D9D9D9"/>
        </a:solidFill>
      </p:bgPr>
    </p:bg>
    <p:spTree>
      <p:nvGrpSpPr>
        <p:cNvPr id="1" name=""/>
        <p:cNvGrpSpPr/>
        <p:nvPr/>
      </p:nvGrpSpPr>
      <p:grpSpPr>
        <a:xfrm>
          <a:off x="0" y="0"/>
          <a:ext cx="0" cy="0"/>
          <a:chOff x="0" y="0"/>
          <a:chExt cx="0" cy="0"/>
        </a:xfrm>
      </p:grpSpPr>
      <p:sp>
        <p:nvSpPr>
          <p:cNvPr name="TextBox 2" id="2"/>
          <p:cNvSpPr txBox="true"/>
          <p:nvPr/>
        </p:nvSpPr>
        <p:spPr>
          <a:xfrm rot="0">
            <a:off x="4676201" y="36793"/>
            <a:ext cx="9348205" cy="2039742"/>
          </a:xfrm>
          <a:prstGeom prst="rect">
            <a:avLst/>
          </a:prstGeom>
        </p:spPr>
        <p:txBody>
          <a:bodyPr anchor="t" rtlCol="false" tIns="0" lIns="0" bIns="0" rIns="0">
            <a:spAutoFit/>
          </a:bodyPr>
          <a:lstStyle/>
          <a:p>
            <a:pPr algn="ctr">
              <a:lnSpc>
                <a:spcPts val="16316"/>
              </a:lnSpc>
              <a:spcBef>
                <a:spcPct val="0"/>
              </a:spcBef>
            </a:pPr>
            <a:r>
              <a:rPr lang="en-US" b="true" sz="12550" spc="251">
                <a:solidFill>
                  <a:srgbClr val="000000"/>
                </a:solidFill>
                <a:latin typeface="Klein Bold"/>
                <a:ea typeface="Klein Bold"/>
                <a:cs typeface="Klein Bold"/>
                <a:sym typeface="Klein Bold"/>
              </a:rPr>
              <a:t>Limitations</a:t>
            </a:r>
          </a:p>
        </p:txBody>
      </p:sp>
      <p:sp>
        <p:nvSpPr>
          <p:cNvPr name="TextBox 3" id="3"/>
          <p:cNvSpPr txBox="true"/>
          <p:nvPr/>
        </p:nvSpPr>
        <p:spPr>
          <a:xfrm rot="0">
            <a:off x="0" y="4754290"/>
            <a:ext cx="18288000" cy="3714750"/>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00000"/>
                </a:solidFill>
                <a:latin typeface="Canva Sans Bold"/>
                <a:ea typeface="Canva Sans Bold"/>
                <a:cs typeface="Canva Sans Bold"/>
                <a:sym typeface="Canva Sans Bold"/>
              </a:rPr>
              <a:t>The project used reservoir area as an indirect measure o</a:t>
            </a:r>
            <a:r>
              <a:rPr lang="en-US" sz="3000">
                <a:solidFill>
                  <a:srgbClr val="000000"/>
                </a:solidFill>
                <a:latin typeface="Canva Sans"/>
                <a:ea typeface="Canva Sans"/>
                <a:cs typeface="Canva Sans"/>
                <a:sym typeface="Canva Sans"/>
              </a:rPr>
              <a:t>f how much water it can hold, however natural reservoirs can widen at the bottom, making it hard to predict just through Surface Area whether it has higher or lower volume.</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The biggest hindrance throughout this project was during Monsoon Analysis as the data has high cloud cover, causing it to large gaps in its data.</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The indices NDWI/MNDWI are not perfect representations of the water bodies as it can sometimes look past the shallow, sediment rich water on the banks, which can be significant. </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D9D9D9"/>
        </a:solidFill>
      </p:bgPr>
    </p:bg>
    <p:spTree>
      <p:nvGrpSpPr>
        <p:cNvPr id="1" name=""/>
        <p:cNvGrpSpPr/>
        <p:nvPr/>
      </p:nvGrpSpPr>
      <p:grpSpPr>
        <a:xfrm>
          <a:off x="0" y="0"/>
          <a:ext cx="0" cy="0"/>
          <a:chOff x="0" y="0"/>
          <a:chExt cx="0" cy="0"/>
        </a:xfrm>
      </p:grpSpPr>
      <p:sp>
        <p:nvSpPr>
          <p:cNvPr name="TextBox 2" id="2"/>
          <p:cNvSpPr txBox="true"/>
          <p:nvPr/>
        </p:nvSpPr>
        <p:spPr>
          <a:xfrm rot="0">
            <a:off x="2684934" y="-171450"/>
            <a:ext cx="12918132" cy="482409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Incomplete Objectives</a:t>
            </a:r>
          </a:p>
          <a:p>
            <a:pPr algn="ctr">
              <a:lnSpc>
                <a:spcPts val="12880"/>
              </a:lnSpc>
            </a:pPr>
          </a:p>
          <a:p>
            <a:pPr algn="ctr">
              <a:lnSpc>
                <a:spcPts val="12880"/>
              </a:lnSpc>
            </a:pPr>
          </a:p>
        </p:txBody>
      </p:sp>
      <p:sp>
        <p:nvSpPr>
          <p:cNvPr name="TextBox 3" id="3"/>
          <p:cNvSpPr txBox="true"/>
          <p:nvPr/>
        </p:nvSpPr>
        <p:spPr>
          <a:xfrm rot="0">
            <a:off x="1427833" y="2368385"/>
            <a:ext cx="15831467" cy="5848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Effects related to dam constructions:</a:t>
            </a:r>
          </a:p>
          <a:p>
            <a:pPr algn="l" marL="1295400" indent="-431800" lvl="2">
              <a:lnSpc>
                <a:spcPts val="4200"/>
              </a:lnSpc>
              <a:buFont typeface="Arial"/>
              <a:buChar char="⚬"/>
            </a:pPr>
            <a:r>
              <a:rPr lang="en-US" sz="3000">
                <a:solidFill>
                  <a:srgbClr val="000000"/>
                </a:solidFill>
                <a:latin typeface="Canva Sans"/>
                <a:ea typeface="Canva Sans"/>
                <a:cs typeface="Canva Sans"/>
                <a:sym typeface="Canva Sans"/>
              </a:rPr>
              <a:t> Since many dams were constructed during era of independence in this basin, it was difficult to compare before and after effects of construction</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Full decadal trends:</a:t>
            </a:r>
          </a:p>
          <a:p>
            <a:pPr algn="l" marL="1295400" indent="-431800" lvl="2">
              <a:lnSpc>
                <a:spcPts val="4200"/>
              </a:lnSpc>
              <a:buFont typeface="Arial"/>
              <a:buChar char="⚬"/>
            </a:pPr>
            <a:r>
              <a:rPr lang="en-US" sz="3000">
                <a:solidFill>
                  <a:srgbClr val="000000"/>
                </a:solidFill>
                <a:latin typeface="Canva Sans"/>
                <a:ea typeface="Canva Sans"/>
                <a:cs typeface="Canva Sans"/>
                <a:sym typeface="Canva Sans"/>
              </a:rPr>
              <a:t>Due to failure of LANDSAT 6 and LANDSAT 7(missing data errors), We had to take only landsat 5 data, which may not give as good resolution when compared to current sattelites. Therefore proper decadal trends may not provided for other parameters</a:t>
            </a:r>
          </a:p>
          <a:p>
            <a:pPr algn="l" marL="647700" indent="-323850" lvl="1">
              <a:lnSpc>
                <a:spcPts val="4200"/>
              </a:lnSpc>
              <a:buFont typeface="Arial"/>
              <a:buChar char="•"/>
            </a:pPr>
            <a:r>
              <a:rPr lang="en-US" sz="3000">
                <a:solidFill>
                  <a:srgbClr val="000000"/>
                </a:solidFill>
                <a:latin typeface="Canva Sans"/>
                <a:ea typeface="Canva Sans"/>
                <a:cs typeface="Canva Sans"/>
                <a:sym typeface="Canva Sans"/>
              </a:rPr>
              <a:t>Complete analysis of the last 10 years (2015-2025) was not available due to Sentinel-2 having data only from April 2017 which caused us to refine our window to 2018-2025. </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EFB59C"/>
        </a:solidFill>
      </p:bgPr>
    </p:bg>
    <p:spTree>
      <p:nvGrpSpPr>
        <p:cNvPr id="1" name=""/>
        <p:cNvGrpSpPr/>
        <p:nvPr/>
      </p:nvGrpSpPr>
      <p:grpSpPr>
        <a:xfrm>
          <a:off x="0" y="0"/>
          <a:ext cx="0" cy="0"/>
          <a:chOff x="0" y="0"/>
          <a:chExt cx="0" cy="0"/>
        </a:xfrm>
      </p:grpSpPr>
      <p:sp>
        <p:nvSpPr>
          <p:cNvPr name="TextBox 2" id="2"/>
          <p:cNvSpPr txBox="true"/>
          <p:nvPr/>
        </p:nvSpPr>
        <p:spPr>
          <a:xfrm rot="0">
            <a:off x="4163853" y="-171450"/>
            <a:ext cx="9960293"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Future Directions</a:t>
            </a:r>
          </a:p>
        </p:txBody>
      </p:sp>
      <p:sp>
        <p:nvSpPr>
          <p:cNvPr name="TextBox 3" id="3"/>
          <p:cNvSpPr txBox="true"/>
          <p:nvPr/>
        </p:nvSpPr>
        <p:spPr>
          <a:xfrm rot="0">
            <a:off x="0" y="3604249"/>
            <a:ext cx="18288000" cy="3714750"/>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a:solidFill>
                  <a:srgbClr val="000000"/>
                </a:solidFill>
                <a:latin typeface="Canva Sans"/>
                <a:ea typeface="Canva Sans"/>
                <a:cs typeface="Canva Sans"/>
                <a:sym typeface="Canva Sans"/>
              </a:rPr>
              <a:t>Build a predictive model t</a:t>
            </a:r>
            <a:r>
              <a:rPr lang="en-US" sz="3000">
                <a:solidFill>
                  <a:srgbClr val="000000"/>
                </a:solidFill>
                <a:latin typeface="Canva Sans"/>
                <a:ea typeface="Canva Sans"/>
                <a:cs typeface="Canva Sans"/>
                <a:sym typeface="Canva Sans"/>
              </a:rPr>
              <a:t>o forecast future river migration paths and reservoir levels based on climate and land use change scenarios.</a:t>
            </a:r>
          </a:p>
          <a:p>
            <a:pPr algn="l" marL="647700" indent="-323850" lvl="1">
              <a:lnSpc>
                <a:spcPts val="4200"/>
              </a:lnSpc>
              <a:spcBef>
                <a:spcPct val="0"/>
              </a:spcBef>
              <a:buFont typeface="Arial"/>
              <a:buChar char="•"/>
            </a:pPr>
            <a:r>
              <a:rPr lang="en-US" sz="3000">
                <a:solidFill>
                  <a:srgbClr val="000000"/>
                </a:solidFill>
                <a:latin typeface="Canva Sans"/>
                <a:ea typeface="Canva Sans"/>
                <a:cs typeface="Canva Sans"/>
                <a:sym typeface="Canva Sans"/>
              </a:rPr>
              <a:t>Developing a flood risk map by combining the historical water extent data with population and infrastructure layers to quantify vulnerability.</a:t>
            </a:r>
          </a:p>
          <a:p>
            <a:pPr algn="l" marL="647700" indent="-323850" lvl="1">
              <a:lnSpc>
                <a:spcPts val="4200"/>
              </a:lnSpc>
              <a:spcBef>
                <a:spcPct val="0"/>
              </a:spcBef>
              <a:buFont typeface="Arial"/>
              <a:buChar char="•"/>
            </a:pPr>
            <a:r>
              <a:rPr lang="en-US" sz="3000">
                <a:solidFill>
                  <a:srgbClr val="000000"/>
                </a:solidFill>
                <a:latin typeface="Canva Sans"/>
                <a:ea typeface="Canva Sans"/>
                <a:cs typeface="Canva Sans"/>
                <a:sym typeface="Canva Sans"/>
              </a:rPr>
              <a:t>Create a qualitative/quantitative to determine the exact percentage of hydrological change caused by specific drivers (e.g., rainfall vs. dam construction).</a:t>
            </a:r>
          </a:p>
          <a:p>
            <a:pPr algn="ctr">
              <a:lnSpc>
                <a:spcPts val="4200"/>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D9D9D9"/>
        </a:solidFill>
      </p:bgPr>
    </p:bg>
    <p:spTree>
      <p:nvGrpSpPr>
        <p:cNvPr id="1" name=""/>
        <p:cNvGrpSpPr/>
        <p:nvPr/>
      </p:nvGrpSpPr>
      <p:grpSpPr>
        <a:xfrm>
          <a:off x="0" y="0"/>
          <a:ext cx="0" cy="0"/>
          <a:chOff x="0" y="0"/>
          <a:chExt cx="0" cy="0"/>
        </a:xfrm>
      </p:grpSpPr>
      <p:grpSp>
        <p:nvGrpSpPr>
          <p:cNvPr name="Group 2" id="2"/>
          <p:cNvGrpSpPr/>
          <p:nvPr/>
        </p:nvGrpSpPr>
        <p:grpSpPr>
          <a:xfrm rot="0">
            <a:off x="0" y="-60503"/>
            <a:ext cx="5515955" cy="10572750"/>
            <a:chOff x="0" y="0"/>
            <a:chExt cx="1452762" cy="2784593"/>
          </a:xfrm>
        </p:grpSpPr>
        <p:sp>
          <p:nvSpPr>
            <p:cNvPr name="Freeform 3" id="3"/>
            <p:cNvSpPr/>
            <p:nvPr/>
          </p:nvSpPr>
          <p:spPr>
            <a:xfrm flipH="false" flipV="false" rot="0">
              <a:off x="0" y="0"/>
              <a:ext cx="1452762" cy="2784593"/>
            </a:xfrm>
            <a:custGeom>
              <a:avLst/>
              <a:gdLst/>
              <a:ahLst/>
              <a:cxnLst/>
              <a:rect r="r" b="b" t="t" l="l"/>
              <a:pathLst>
                <a:path h="2784593" w="1452762">
                  <a:moveTo>
                    <a:pt x="0" y="0"/>
                  </a:moveTo>
                  <a:lnTo>
                    <a:pt x="1452762" y="0"/>
                  </a:lnTo>
                  <a:lnTo>
                    <a:pt x="1452762" y="2784593"/>
                  </a:lnTo>
                  <a:lnTo>
                    <a:pt x="0" y="2784593"/>
                  </a:lnTo>
                  <a:close/>
                </a:path>
              </a:pathLst>
            </a:custGeom>
            <a:solidFill>
              <a:srgbClr val="97D4E8"/>
            </a:solidFill>
            <a:ln cap="sq">
              <a:noFill/>
              <a:prstDash val="solid"/>
              <a:miter/>
            </a:ln>
          </p:spPr>
        </p:sp>
        <p:sp>
          <p:nvSpPr>
            <p:cNvPr name="TextBox 4" id="4"/>
            <p:cNvSpPr txBox="true"/>
            <p:nvPr/>
          </p:nvSpPr>
          <p:spPr>
            <a:xfrm>
              <a:off x="0" y="-47625"/>
              <a:ext cx="1452762" cy="283221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527882" y="4654481"/>
            <a:ext cx="4460191" cy="876300"/>
          </a:xfrm>
          <a:prstGeom prst="rect">
            <a:avLst/>
          </a:prstGeom>
        </p:spPr>
        <p:txBody>
          <a:bodyPr anchor="t" rtlCol="false" tIns="0" lIns="0" bIns="0" rIns="0">
            <a:spAutoFit/>
          </a:bodyPr>
          <a:lstStyle/>
          <a:p>
            <a:pPr algn="l">
              <a:lnSpc>
                <a:spcPts val="6600"/>
              </a:lnSpc>
            </a:pPr>
            <a:r>
              <a:rPr lang="en-US" sz="6000" b="true">
                <a:solidFill>
                  <a:srgbClr val="000001"/>
                </a:solidFill>
                <a:latin typeface="Klein Heavy"/>
                <a:ea typeface="Klein Heavy"/>
                <a:cs typeface="Klein Heavy"/>
                <a:sym typeface="Klein Heavy"/>
              </a:rPr>
              <a:t>References</a:t>
            </a:r>
          </a:p>
        </p:txBody>
      </p:sp>
      <p:sp>
        <p:nvSpPr>
          <p:cNvPr name="TextBox 6" id="6"/>
          <p:cNvSpPr txBox="true"/>
          <p:nvPr/>
        </p:nvSpPr>
        <p:spPr>
          <a:xfrm rot="0">
            <a:off x="6919746" y="3935562"/>
            <a:ext cx="9062595" cy="1785388"/>
          </a:xfrm>
          <a:prstGeom prst="rect">
            <a:avLst/>
          </a:prstGeom>
        </p:spPr>
        <p:txBody>
          <a:bodyPr anchor="t" rtlCol="false" tIns="0" lIns="0" bIns="0" rIns="0">
            <a:spAutoFit/>
          </a:bodyPr>
          <a:lstStyle/>
          <a:p>
            <a:pPr algn="l">
              <a:lnSpc>
                <a:spcPts val="3515"/>
              </a:lnSpc>
              <a:spcBef>
                <a:spcPct val="0"/>
              </a:spcBef>
            </a:pPr>
            <a:r>
              <a:rPr lang="en-US" b="true" sz="2704" spc="54">
                <a:solidFill>
                  <a:srgbClr val="000001"/>
                </a:solidFill>
                <a:latin typeface="Klein Bold"/>
                <a:ea typeface="Klein Bold"/>
                <a:cs typeface="Klein Bold"/>
                <a:sym typeface="Klein Bold"/>
              </a:rPr>
              <a:t>•Debnath et al., 2023</a:t>
            </a:r>
          </a:p>
          <a:p>
            <a:pPr algn="l">
              <a:lnSpc>
                <a:spcPts val="3515"/>
              </a:lnSpc>
              <a:spcBef>
                <a:spcPct val="0"/>
              </a:spcBef>
            </a:pPr>
            <a:r>
              <a:rPr lang="en-US" b="true" sz="2704" spc="54">
                <a:solidFill>
                  <a:srgbClr val="000001"/>
                </a:solidFill>
                <a:latin typeface="Klein Bold"/>
                <a:ea typeface="Klein Bold"/>
                <a:cs typeface="Klein Bold"/>
                <a:sym typeface="Klein Bold"/>
              </a:rPr>
              <a:t>–LULC dynamics in Brahmaputra River basin</a:t>
            </a:r>
          </a:p>
          <a:p>
            <a:pPr algn="l">
              <a:lnSpc>
                <a:spcPts val="3515"/>
              </a:lnSpc>
              <a:spcBef>
                <a:spcPct val="0"/>
              </a:spcBef>
            </a:pPr>
            <a:r>
              <a:rPr lang="en-US" b="true" sz="2704" spc="54">
                <a:solidFill>
                  <a:srgbClr val="000001"/>
                </a:solidFill>
                <a:latin typeface="Klein Bold"/>
                <a:ea typeface="Klein Bold"/>
                <a:cs typeface="Klein Bold"/>
                <a:sym typeface="Klein Bold"/>
              </a:rPr>
              <a:t>–Integration of geospatial and statistical methods</a:t>
            </a:r>
          </a:p>
          <a:p>
            <a:pPr algn="l">
              <a:lnSpc>
                <a:spcPts val="3515"/>
              </a:lnSpc>
              <a:spcBef>
                <a:spcPct val="0"/>
              </a:spcBef>
            </a:pP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EFB59C"/>
        </a:solidFill>
      </p:bgPr>
    </p:bg>
    <p:spTree>
      <p:nvGrpSpPr>
        <p:cNvPr id="1" name=""/>
        <p:cNvGrpSpPr/>
        <p:nvPr/>
      </p:nvGrpSpPr>
      <p:grpSpPr>
        <a:xfrm>
          <a:off x="0" y="0"/>
          <a:ext cx="0" cy="0"/>
          <a:chOff x="0" y="0"/>
          <a:chExt cx="0" cy="0"/>
        </a:xfrm>
      </p:grpSpPr>
      <p:sp>
        <p:nvSpPr>
          <p:cNvPr name="TextBox 2" id="2"/>
          <p:cNvSpPr txBox="true"/>
          <p:nvPr/>
        </p:nvSpPr>
        <p:spPr>
          <a:xfrm rot="0">
            <a:off x="5042148" y="4079875"/>
            <a:ext cx="8203704" cy="2012950"/>
          </a:xfrm>
          <a:prstGeom prst="rect">
            <a:avLst/>
          </a:prstGeom>
        </p:spPr>
        <p:txBody>
          <a:bodyPr anchor="t" rtlCol="false" tIns="0" lIns="0" bIns="0" rIns="0">
            <a:spAutoFit/>
          </a:bodyPr>
          <a:lstStyle/>
          <a:p>
            <a:pPr algn="ctr">
              <a:lnSpc>
                <a:spcPts val="16250"/>
              </a:lnSpc>
              <a:spcBef>
                <a:spcPct val="0"/>
              </a:spcBef>
            </a:pPr>
            <a:r>
              <a:rPr lang="en-US" sz="12500" spc="250">
                <a:solidFill>
                  <a:srgbClr val="000000"/>
                </a:solidFill>
                <a:latin typeface="Roca Two"/>
                <a:ea typeface="Roca Two"/>
                <a:cs typeface="Roca Two"/>
                <a:sym typeface="Roca Tw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DAG1saTyBeo</dc:identifier>
  <dcterms:modified xsi:type="dcterms:W3CDTF">2011-08-01T06:04:30Z</dcterms:modified>
  <cp:revision>1</cp:revision>
  <dc:title>Hydrological Pattern Analysis: Rivers &amp; Reservoirs</dc:title>
</cp:coreProperties>
</file>